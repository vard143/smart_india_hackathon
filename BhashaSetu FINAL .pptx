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2021" y="-12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7BB6F-C7E4-3CDF-D0DD-B68AF3AD0A3B}"/>
              </a:ext>
            </a:extLst>
          </p:cNvPr>
          <p:cNvSpPr txBox="1"/>
          <p:nvPr/>
        </p:nvSpPr>
        <p:spPr>
          <a:xfrm>
            <a:off x="442452" y="1715881"/>
            <a:ext cx="6039824" cy="38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26042</a:t>
            </a:r>
          </a:p>
          <a:p>
            <a:pPr algn="just"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Al-Powered Vernacular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Pedagogy and Real-Time Translation Tool for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Mother Tongue-Based Primary Education</a:t>
            </a:r>
          </a:p>
          <a:p>
            <a:pPr algn="just"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 PROBLEM SOLVER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6032" y="489414"/>
            <a:ext cx="12344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1B426F"/>
                </a:solidFill>
                <a:latin typeface="Aptos"/>
              </a:rPr>
              <a:t>PROBLEM SLOVER</a:t>
            </a:r>
            <a:endParaRPr sz="10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B426F"/>
                </a:solidFill>
                <a:latin typeface="Aptos"/>
              </a:rPr>
              <a:t>Proposed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32461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73152" cy="1417320"/>
          </a:xfrm>
          <a:prstGeom prst="rect">
            <a:avLst/>
          </a:prstGeom>
          <a:solidFill>
            <a:srgbClr val="00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807208"/>
            <a:ext cx="29535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B426F"/>
                </a:solidFill>
                <a:latin typeface="Aptos"/>
              </a:rPr>
              <a:t>1  TEACHER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246120"/>
            <a:ext cx="2953512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300" dirty="0">
                <a:solidFill>
                  <a:srgbClr val="1F2A33"/>
                </a:solidFill>
                <a:latin typeface="Aptos"/>
              </a:rPr>
              <a:t>Hindi voice / text • Grade 1–3 • subject
Curriculum content + teacher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697480"/>
            <a:ext cx="32461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69748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2807208"/>
            <a:ext cx="295351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B426F"/>
                </a:solidFill>
                <a:latin typeface="Aptos"/>
              </a:rPr>
              <a:t>2  </a:t>
            </a:r>
            <a:r>
              <a:rPr lang="en-IN" sz="1700" b="1" dirty="0">
                <a:solidFill>
                  <a:srgbClr val="1B426F"/>
                </a:solidFill>
                <a:latin typeface="Aptos"/>
              </a:rPr>
              <a:t>PROCESS</a:t>
            </a:r>
            <a:endParaRPr sz="17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5112" y="3246120"/>
            <a:ext cx="2953512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300" dirty="0">
                <a:solidFill>
                  <a:srgbClr val="1F2A33"/>
                </a:solidFill>
                <a:latin typeface="Aptos"/>
              </a:rPr>
              <a:t>Offline ASR → vernacular NLP →
context + pedagogy → local 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697480"/>
            <a:ext cx="32461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2697480"/>
            <a:ext cx="73152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2807208"/>
            <a:ext cx="295351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B426F"/>
                </a:solidFill>
                <a:latin typeface="Aptos"/>
              </a:rPr>
              <a:t>3  </a:t>
            </a:r>
            <a:r>
              <a:rPr lang="en-IN" sz="1700" b="1" dirty="0">
                <a:solidFill>
                  <a:srgbClr val="1B426F"/>
                </a:solidFill>
                <a:latin typeface="Aptos"/>
              </a:rPr>
              <a:t>OUTPUT</a:t>
            </a:r>
            <a:endParaRPr sz="17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45552" y="3246120"/>
            <a:ext cx="2953512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dirty="0">
                <a:solidFill>
                  <a:srgbClr val="1F2A33"/>
                </a:solidFill>
                <a:latin typeface="Aptos"/>
              </a:rPr>
              <a:t>Target-language text + audio
Bilingual worksheet + visual flashcards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401568"/>
            <a:ext cx="228600" cy="0"/>
          </a:xfrm>
          <a:prstGeom prst="line">
            <a:avLst/>
          </a:prstGeom>
          <a:ln w="31750">
            <a:solidFill>
              <a:srgbClr val="00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06640" y="3401568"/>
            <a:ext cx="228600" cy="0"/>
          </a:xfrm>
          <a:prstGeom prst="line">
            <a:avLst/>
          </a:prstGeom>
          <a:ln w="31750">
            <a:solidFill>
              <a:srgbClr val="00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434840"/>
            <a:ext cx="33911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B426F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73168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t>• Reduces Hindi/English ↔ mother-tongue comprehension gap</a:t>
            </a:r>
          </a:p>
          <a:p>
            <a:pPr>
              <a:spcAft>
                <a:spcPts val="7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t>• Uses familiar local objects and classroom contexts</a:t>
            </a:r>
          </a:p>
          <a:p>
            <a:pPr>
              <a:spcAft>
                <a:spcPts val="7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t>• Reduces teacher preparation time</a:t>
            </a:r>
          </a:p>
          <a:p>
            <a:pPr>
              <a:spcAft>
                <a:spcPts val="7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t>• Supports daily FLN practice and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95817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426F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524" y="4642705"/>
            <a:ext cx="50749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232D"/>
                </a:solidFill>
                <a:latin typeface="Aptos"/>
              </a:rPr>
              <a:t>Contextual AI:</a:t>
            </a:r>
            <a:r>
              <a:rPr lang="en-IN" sz="1250" dirty="0">
                <a:solidFill>
                  <a:srgbClr val="19232D"/>
                </a:solidFill>
                <a:latin typeface="Aptos"/>
              </a:rPr>
              <a:t> Uses local objects (mangoes, trees, goats) for tribal FLN, not abstract examples.</a:t>
            </a:r>
            <a:endParaRPr dirty="0"/>
          </a:p>
          <a:p>
            <a:pPr>
              <a:spcAft>
                <a:spcPts val="1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232D"/>
                </a:solidFill>
                <a:latin typeface="Aptos"/>
              </a:rPr>
              <a:t>Teacher-First:</a:t>
            </a:r>
            <a:r>
              <a:rPr lang="en-IN" sz="1250" dirty="0">
                <a:solidFill>
                  <a:srgbClr val="19232D"/>
                </a:solidFill>
                <a:latin typeface="Aptos"/>
              </a:rPr>
              <a:t> Instantly generates printable mother-tongue worksheets, assessments, and lessons.</a:t>
            </a:r>
          </a:p>
          <a:p>
            <a:pPr>
              <a:spcAft>
                <a:spcPts val="100"/>
              </a:spcAft>
              <a:defRPr sz="1250">
                <a:solidFill>
                  <a:srgbClr val="19232D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232D"/>
                </a:solidFill>
                <a:latin typeface="Aptos"/>
              </a:rPr>
              <a:t>Offline-Ready Architecture:</a:t>
            </a:r>
            <a:r>
              <a:rPr lang="en-IN" sz="1250" dirty="0">
                <a:solidFill>
                  <a:srgbClr val="19232D"/>
                </a:solidFill>
                <a:latin typeface="Aptos"/>
              </a:rPr>
              <a:t> </a:t>
            </a:r>
            <a:r>
              <a:rPr lang="en-IN" sz="1250" dirty="0" err="1">
                <a:solidFill>
                  <a:srgbClr val="19232D"/>
                </a:solidFill>
                <a:latin typeface="Aptos"/>
              </a:rPr>
              <a:t>Streamlit</a:t>
            </a:r>
            <a:r>
              <a:rPr lang="en-IN" sz="1250" dirty="0">
                <a:solidFill>
                  <a:srgbClr val="19232D"/>
                </a:solidFill>
                <a:latin typeface="Aptos"/>
              </a:rPr>
              <a:t> + </a:t>
            </a:r>
            <a:r>
              <a:rPr lang="en-IN" sz="1250" dirty="0" err="1">
                <a:solidFill>
                  <a:srgbClr val="19232D"/>
                </a:solidFill>
                <a:latin typeface="Aptos"/>
              </a:rPr>
              <a:t>FastAPI</a:t>
            </a:r>
            <a:r>
              <a:rPr lang="en-IN" sz="1250" dirty="0">
                <a:solidFill>
                  <a:srgbClr val="19232D"/>
                </a:solidFill>
                <a:latin typeface="Aptos"/>
              </a:rPr>
              <a:t> + Gemini, built for future offline mobile deployment.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D37902-7CAB-303C-1650-39215905BBC6}"/>
              </a:ext>
            </a:extLst>
          </p:cNvPr>
          <p:cNvSpPr/>
          <p:nvPr/>
        </p:nvSpPr>
        <p:spPr>
          <a:xfrm>
            <a:off x="344129" y="297284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27D85A-6946-3D19-E452-0B05D5BCA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C13410C-F3D2-177F-6215-70239FC85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Footer Placeholder 6">
            <a:extLst>
              <a:ext uri="{FF2B5EF4-FFF2-40B4-BE49-F238E27FC236}">
                <a16:creationId xmlns:a16="http://schemas.microsoft.com/office/drawing/2014/main" id="{466021C3-100F-50AB-B5F4-09805D55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1BE9F17-3560-FB81-A9DA-FCB2F973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570BD-869F-2DD6-6C0A-EB6B32473CFC}"/>
              </a:ext>
            </a:extLst>
          </p:cNvPr>
          <p:cNvSpPr>
            <a:spLocks noGrp="1"/>
          </p:cNvSpPr>
          <p:nvPr/>
        </p:nvSpPr>
        <p:spPr bwMode="auto">
          <a:xfrm>
            <a:off x="552670" y="-7916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764792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B426F"/>
                </a:solidFill>
                <a:latin typeface="Aptos"/>
              </a:rP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88557"/>
            <a:ext cx="2148840" cy="139764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361" y="2586187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B426F"/>
                </a:solidFill>
                <a:latin typeface="Aptos"/>
              </a:rPr>
              <a:t>Teacher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32" y="2950094"/>
            <a:ext cx="1914516" cy="762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dirty="0">
                <a:solidFill>
                  <a:srgbClr val="1F2A33"/>
                </a:solidFill>
                <a:latin typeface="Aptos"/>
              </a:rPr>
              <a:t>React 19 + TypeScript
Voice / text input • WCAG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8999" y="2488557"/>
            <a:ext cx="2242595" cy="139764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2651760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600" b="1" dirty="0">
                <a:solidFill>
                  <a:srgbClr val="1B426F"/>
                </a:solidFill>
                <a:latin typeface="Aptos"/>
              </a:rPr>
              <a:t>Local </a:t>
            </a:r>
            <a:r>
              <a:rPr sz="1600" b="1" dirty="0">
                <a:solidFill>
                  <a:srgbClr val="1B426F"/>
                </a:solidFill>
                <a:latin typeface="Aptos"/>
              </a:rPr>
              <a:t>API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3058109"/>
            <a:ext cx="19202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300" dirty="0" err="1">
                <a:solidFill>
                  <a:srgbClr val="1F2A33"/>
                </a:solidFill>
                <a:latin typeface="Aptos"/>
              </a:rPr>
              <a:t>FastAPI</a:t>
            </a:r>
            <a:r>
              <a:rPr lang="en-IN" sz="1300" dirty="0">
                <a:solidFill>
                  <a:srgbClr val="1F2A33"/>
                </a:solidFill>
                <a:latin typeface="Aptos"/>
              </a:rPr>
              <a:t> + </a:t>
            </a:r>
            <a:r>
              <a:rPr lang="en-IN" sz="1300" dirty="0" err="1">
                <a:solidFill>
                  <a:srgbClr val="1F2A33"/>
                </a:solidFill>
                <a:latin typeface="Aptos"/>
              </a:rPr>
              <a:t>Uvicorn</a:t>
            </a:r>
            <a:r>
              <a:rPr lang="en-IN" sz="1300" dirty="0">
                <a:solidFill>
                  <a:srgbClr val="1F2A33"/>
                </a:solidFill>
                <a:latin typeface="Aptos"/>
              </a:rPr>
              <a:t>
Request routing +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95959"/>
            <a:ext cx="2240280" cy="149024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573162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600" b="1" dirty="0">
                <a:solidFill>
                  <a:srgbClr val="1B426F"/>
                </a:solidFill>
                <a:latin typeface="Aptos"/>
              </a:rPr>
              <a:t>Edge / NLP</a:t>
            </a:r>
            <a:endParaRPr sz="16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7648" y="3019967"/>
            <a:ext cx="19202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dirty="0">
                <a:solidFill>
                  <a:srgbClr val="1F2A33"/>
                </a:solidFill>
                <a:latin typeface="Aptos"/>
              </a:rPr>
              <a:t>Hindi → target language
Contextual pedagogy + FLN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442258"/>
            <a:ext cx="2148840" cy="144394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7" y="2573162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600" b="1" dirty="0">
                <a:solidFill>
                  <a:srgbClr val="1B426F"/>
                </a:solidFill>
                <a:latin typeface="Aptos"/>
              </a:rPr>
              <a:t>Local Store</a:t>
            </a:r>
            <a:endParaRPr sz="16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16567" y="3058109"/>
            <a:ext cx="19202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300" dirty="0">
                <a:solidFill>
                  <a:srgbClr val="1F2A33"/>
                </a:solidFill>
                <a:latin typeface="Aptos"/>
              </a:rPr>
              <a:t>SQLite / content packs
</a:t>
            </a:r>
            <a:r>
              <a:rPr lang="fr-FR" sz="1300" dirty="0" err="1">
                <a:solidFill>
                  <a:srgbClr val="1F2A33"/>
                </a:solidFill>
                <a:latin typeface="Aptos"/>
              </a:rPr>
              <a:t>Language</a:t>
            </a:r>
            <a:r>
              <a:rPr lang="fr-FR" sz="1300" dirty="0">
                <a:solidFill>
                  <a:srgbClr val="1F2A33"/>
                </a:solidFill>
                <a:latin typeface="Aptos"/>
              </a:rPr>
              <a:t> </a:t>
            </a:r>
            <a:r>
              <a:rPr lang="fr-FR" sz="1300" dirty="0" err="1">
                <a:solidFill>
                  <a:srgbClr val="1F2A33"/>
                </a:solidFill>
                <a:latin typeface="Aptos"/>
              </a:rPr>
              <a:t>lexicon</a:t>
            </a:r>
            <a:r>
              <a:rPr lang="fr-FR" sz="1300" dirty="0">
                <a:solidFill>
                  <a:srgbClr val="1F2A33"/>
                </a:solidFill>
                <a:latin typeface="Aptos"/>
              </a:rPr>
              <a:t> + curriculum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16352" y="3218688"/>
            <a:ext cx="566928" cy="0"/>
          </a:xfrm>
          <a:prstGeom prst="line">
            <a:avLst/>
          </a:prstGeom>
          <a:ln w="31750">
            <a:solidFill>
              <a:srgbClr val="00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82012" y="3233387"/>
            <a:ext cx="566928" cy="0"/>
          </a:xfrm>
          <a:prstGeom prst="line">
            <a:avLst/>
          </a:prstGeom>
          <a:ln w="31750">
            <a:solidFill>
              <a:srgbClr val="00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39912" y="3190408"/>
            <a:ext cx="566928" cy="0"/>
          </a:xfrm>
          <a:prstGeom prst="line">
            <a:avLst/>
          </a:prstGeom>
          <a:ln w="31750">
            <a:solidFill>
              <a:srgbClr val="00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94B1B40-E6A3-0799-C5CD-75FD0A054EF5}"/>
              </a:ext>
            </a:extLst>
          </p:cNvPr>
          <p:cNvSpPr/>
          <p:nvPr/>
        </p:nvSpPr>
        <p:spPr>
          <a:xfrm>
            <a:off x="312764" y="224132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A8FB1F-D454-9B10-F74A-352EAB2F8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68B29E8-5906-C11C-D689-D7DA471CBF8A}"/>
              </a:ext>
            </a:extLst>
          </p:cNvPr>
          <p:cNvSpPr txBox="1">
            <a:spLocks/>
          </p:cNvSpPr>
          <p:nvPr/>
        </p:nvSpPr>
        <p:spPr>
          <a:xfrm>
            <a:off x="429768" y="33583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3DA301-042C-4ECF-DFE6-0EAB2A4B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Footer Placeholder 6">
            <a:extLst>
              <a:ext uri="{FF2B5EF4-FFF2-40B4-BE49-F238E27FC236}">
                <a16:creationId xmlns:a16="http://schemas.microsoft.com/office/drawing/2014/main" id="{023D60A8-14EF-221C-2071-B7D99EF7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F4319469-6100-B81C-EE56-1AC9FFC2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78D21EA4-E73D-1688-C922-60D7348BDF7F}"/>
              </a:ext>
            </a:extLst>
          </p:cNvPr>
          <p:cNvSpPr/>
          <p:nvPr/>
        </p:nvSpPr>
        <p:spPr>
          <a:xfrm>
            <a:off x="640080" y="4416552"/>
            <a:ext cx="3703320" cy="1170432"/>
          </a:xfrm>
          <a:prstGeom prst="roundRect">
            <a:avLst/>
          </a:prstGeom>
          <a:solidFill>
            <a:srgbClr val="ECF6FC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80148D-F77C-6237-AE88-E3AB1D563E9D}"/>
              </a:ext>
            </a:extLst>
          </p:cNvPr>
          <p:cNvSpPr/>
          <p:nvPr/>
        </p:nvSpPr>
        <p:spPr>
          <a:xfrm>
            <a:off x="640080" y="4416552"/>
            <a:ext cx="64008" cy="1170432"/>
          </a:xfrm>
          <a:prstGeom prst="rect">
            <a:avLst/>
          </a:prstGeom>
          <a:solidFill>
            <a:srgbClr val="00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92ECEB-C457-3D19-654A-2379EC8F454A}"/>
              </a:ext>
            </a:extLst>
          </p:cNvPr>
          <p:cNvSpPr txBox="1"/>
          <p:nvPr/>
        </p:nvSpPr>
        <p:spPr>
          <a:xfrm>
            <a:off x="804671" y="4535424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0077BE"/>
                </a:solidFill>
                <a:latin typeface="Aptos"/>
              </a:rPr>
              <a:t>CURRICULUM GROUNDING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A5C6A3-2954-A117-689D-66D5BA37873E}"/>
              </a:ext>
            </a:extLst>
          </p:cNvPr>
          <p:cNvSpPr txBox="1"/>
          <p:nvPr/>
        </p:nvSpPr>
        <p:spPr>
          <a:xfrm>
            <a:off x="804671" y="4892040"/>
            <a:ext cx="34290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1F2A33"/>
                </a:solidFill>
                <a:latin typeface="Aptos"/>
              </a:rPr>
              <a:t>Current project corpus: 11 textbook sources / 159 extracted chapters.
Use retrieved curriculum context before generating lesson or assessment material.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D310E1F7-D859-341A-A7AB-C6E90B513851}"/>
              </a:ext>
            </a:extLst>
          </p:cNvPr>
          <p:cNvSpPr/>
          <p:nvPr/>
        </p:nvSpPr>
        <p:spPr>
          <a:xfrm>
            <a:off x="4507992" y="4416552"/>
            <a:ext cx="3703320" cy="1170432"/>
          </a:xfrm>
          <a:prstGeom prst="roundRect">
            <a:avLst/>
          </a:prstGeom>
          <a:solidFill>
            <a:srgbClr val="FDF3E7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047B6A-E830-3934-5F13-09B394768C18}"/>
              </a:ext>
            </a:extLst>
          </p:cNvPr>
          <p:cNvSpPr/>
          <p:nvPr/>
        </p:nvSpPr>
        <p:spPr>
          <a:xfrm>
            <a:off x="4507992" y="4416552"/>
            <a:ext cx="64008" cy="1170432"/>
          </a:xfrm>
          <a:prstGeom prst="rect">
            <a:avLst/>
          </a:prstGeom>
          <a:solidFill>
            <a:srgbClr val="E8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AF98A7-9428-6C04-7F80-E058287C0408}"/>
              </a:ext>
            </a:extLst>
          </p:cNvPr>
          <p:cNvSpPr txBox="1"/>
          <p:nvPr/>
        </p:nvSpPr>
        <p:spPr>
          <a:xfrm>
            <a:off x="4672583" y="4535424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E87E22"/>
                </a:solidFill>
                <a:latin typeface="Aptos"/>
              </a:rPr>
              <a:t>LANGUAGE QUALITY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5403D-597F-A800-0CF8-D018C4B2BC26}"/>
              </a:ext>
            </a:extLst>
          </p:cNvPr>
          <p:cNvSpPr txBox="1"/>
          <p:nvPr/>
        </p:nvSpPr>
        <p:spPr>
          <a:xfrm>
            <a:off x="4672583" y="4892040"/>
            <a:ext cx="34290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1F2A33"/>
                </a:solidFill>
                <a:latin typeface="Aptos"/>
              </a:rPr>
              <a:t>Validated phrase/lexicon layer → model generation → native-speaker review.
Never present unverified tribal-language output as authoritative.</a:t>
            </a:r>
          </a:p>
        </p:txBody>
      </p:sp>
      <p:sp>
        <p:nvSpPr>
          <p:cNvPr id="46" name="Rounded Rectangle 31">
            <a:extLst>
              <a:ext uri="{FF2B5EF4-FFF2-40B4-BE49-F238E27FC236}">
                <a16:creationId xmlns:a16="http://schemas.microsoft.com/office/drawing/2014/main" id="{239FBCC1-D89F-D56F-7BAC-2342B1048C5A}"/>
              </a:ext>
            </a:extLst>
          </p:cNvPr>
          <p:cNvSpPr/>
          <p:nvPr/>
        </p:nvSpPr>
        <p:spPr>
          <a:xfrm>
            <a:off x="8375904" y="4416552"/>
            <a:ext cx="2999232" cy="1170432"/>
          </a:xfrm>
          <a:prstGeom prst="roundRect">
            <a:avLst/>
          </a:prstGeom>
          <a:solidFill>
            <a:srgbClr val="ECF8F1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9312356-D230-E64A-5E0F-7B4CA1352391}"/>
              </a:ext>
            </a:extLst>
          </p:cNvPr>
          <p:cNvSpPr/>
          <p:nvPr/>
        </p:nvSpPr>
        <p:spPr>
          <a:xfrm>
            <a:off x="8375904" y="4416552"/>
            <a:ext cx="64008" cy="1170432"/>
          </a:xfrm>
          <a:prstGeom prst="rect">
            <a:avLst/>
          </a:prstGeom>
          <a:solidFill>
            <a:srgbClr val="2D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D3591E-C047-85DD-F47A-54DABEE45C3E}"/>
              </a:ext>
            </a:extLst>
          </p:cNvPr>
          <p:cNvSpPr txBox="1"/>
          <p:nvPr/>
        </p:nvSpPr>
        <p:spPr>
          <a:xfrm>
            <a:off x="8540496" y="4535424"/>
            <a:ext cx="27249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2D8758"/>
                </a:solidFill>
                <a:latin typeface="Aptos"/>
              </a:rPr>
              <a:t>OFFLINE RUNTIME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809843-5549-2696-2805-CE781D357CFB}"/>
              </a:ext>
            </a:extLst>
          </p:cNvPr>
          <p:cNvSpPr txBox="1"/>
          <p:nvPr/>
        </p:nvSpPr>
        <p:spPr>
          <a:xfrm>
            <a:off x="8540496" y="4782312"/>
            <a:ext cx="27249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1F2A33"/>
                </a:solidFill>
                <a:latin typeface="Aptos"/>
              </a:rPr>
              <a:t>Content </a:t>
            </a:r>
            <a:r>
              <a:rPr sz="950" b="0" dirty="0" err="1">
                <a:solidFill>
                  <a:srgbClr val="1F2A33"/>
                </a:solidFill>
                <a:latin typeface="Aptos"/>
              </a:rPr>
              <a:t>synchronised</a:t>
            </a:r>
            <a:r>
              <a:rPr sz="950" b="0" dirty="0">
                <a:solidFill>
                  <a:srgbClr val="1F2A33"/>
                </a:solidFill>
                <a:latin typeface="Aptos"/>
              </a:rPr>
              <a:t> once → local storage → inference and classroom workflow continue without internet.
Target: low-cost Android 9+ / ~2 GB RAM class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148840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426F"/>
                </a:solidFill>
                <a:latin typeface="Aptos"/>
              </a:rPr>
              <a:t>Feasibility &amp;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88920"/>
            <a:ext cx="34290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73152" cy="1325880"/>
          </a:xfrm>
          <a:prstGeom prst="rect">
            <a:avLst/>
          </a:prstGeom>
          <a:solidFill>
            <a:srgbClr val="298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898648"/>
            <a:ext cx="31363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26F"/>
                </a:solidFill>
                <a:latin typeface="Aptos"/>
              </a:rPr>
              <a:t>FEASIBLE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227832"/>
            <a:ext cx="3035809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>
                <a:solidFill>
                  <a:srgbClr val="1F2A33"/>
                </a:solidFill>
                <a:latin typeface="Aptos"/>
              </a:rPr>
              <a:t>• PWA + local API can run on standard school tablets
• Curriculum and language packs can be stored locally
• No continuous cloud service is required after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788920"/>
            <a:ext cx="34290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2788920"/>
            <a:ext cx="73152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2898648"/>
            <a:ext cx="313639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700" b="1" dirty="0">
                <a:solidFill>
                  <a:srgbClr val="1B426F"/>
                </a:solidFill>
                <a:latin typeface="Aptos"/>
              </a:rPr>
              <a:t>KEY RISKS</a:t>
            </a:r>
            <a:endParaRPr sz="17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0852" y="3227832"/>
            <a:ext cx="313639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>
                <a:solidFill>
                  <a:srgbClr val="1F2A33"/>
                </a:solidFill>
                <a:latin typeface="Aptos"/>
              </a:rPr>
              <a:t>• Low-resource language data
• Dialect and spelling variation
• Offline ASR/TTS quality
• Model size / device memory
• Hallucinated or culturally wrong translations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788920"/>
            <a:ext cx="34290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2788920"/>
            <a:ext cx="73152" cy="1325880"/>
          </a:xfrm>
          <a:prstGeom prst="rect">
            <a:avLst/>
          </a:prstGeom>
          <a:solidFill>
            <a:srgbClr val="00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2898648"/>
            <a:ext cx="31363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26F"/>
                </a:solidFill>
                <a:latin typeface="Aptos"/>
              </a:rPr>
              <a:t>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3227832"/>
            <a:ext cx="313639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00" dirty="0">
                <a:solidFill>
                  <a:srgbClr val="1F2A33"/>
                </a:solidFill>
                <a:latin typeface="Aptos"/>
              </a:rPr>
              <a:t>• Native-speaker validation loop
• Curated glossary + approved phrases
• </a:t>
            </a:r>
            <a:r>
              <a:rPr lang="en-US" sz="1000" dirty="0" err="1">
                <a:solidFill>
                  <a:srgbClr val="1F2A33"/>
                </a:solidFill>
                <a:latin typeface="Aptos"/>
              </a:rPr>
              <a:t>Quantised</a:t>
            </a:r>
            <a:r>
              <a:rPr lang="en-US" sz="1000" dirty="0">
                <a:solidFill>
                  <a:srgbClr val="1F2A33"/>
                </a:solidFill>
                <a:latin typeface="Aptos"/>
              </a:rPr>
              <a:t>/local models where needed
• Confidence / fallback messages
• Versioned content packs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1"/>
            <a:ext cx="4175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b="1" dirty="0">
                <a:solidFill>
                  <a:srgbClr val="193D65"/>
                </a:solidFill>
                <a:latin typeface="Aptos"/>
              </a:rPr>
              <a:t>VALIDATION &amp; SCALE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46320"/>
            <a:ext cx="2148840" cy="77724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B426F"/>
                </a:solidFill>
                <a:latin typeface="Aptos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184648"/>
            <a:ext cx="1965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00" dirty="0">
                <a:solidFill>
                  <a:srgbClr val="1F2A33"/>
                </a:solidFill>
                <a:latin typeface="Aptos"/>
              </a:rPr>
              <a:t>One validated
tribal language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5230368"/>
            <a:ext cx="521208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29000" y="4846320"/>
            <a:ext cx="2148840" cy="77724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0" y="4956048"/>
            <a:ext cx="1965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300" b="1" dirty="0">
                <a:solidFill>
                  <a:srgbClr val="193D65"/>
                </a:solidFill>
                <a:latin typeface="Aptos"/>
              </a:rPr>
              <a:t>MULTI-LANGUAGE</a:t>
            </a:r>
            <a:endParaRPr sz="13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5248436"/>
            <a:ext cx="1965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000" dirty="0">
                <a:solidFill>
                  <a:srgbClr val="1F2A33"/>
                </a:solidFill>
                <a:latin typeface="Aptos"/>
              </a:rPr>
              <a:t>• Ho • Mundari •</a:t>
            </a:r>
            <a:r>
              <a:rPr lang="en-IN" sz="1000" dirty="0" err="1">
                <a:solidFill>
                  <a:srgbClr val="1F2A33"/>
                </a:solidFill>
                <a:latin typeface="Aptos"/>
              </a:rPr>
              <a:t>Santhali</a:t>
            </a:r>
            <a:endParaRPr lang="en-IN" sz="1000" dirty="0">
              <a:solidFill>
                <a:srgbClr val="1F2A33"/>
              </a:solidFill>
              <a:latin typeface="Aptos"/>
            </a:endParaRPr>
          </a:p>
        </p:txBody>
      </p:sp>
      <p:cxnSp>
        <p:nvCxnSpPr>
          <p:cNvPr id="25" name="Connector 24"/>
          <p:cNvCxnSpPr>
            <a:cxnSpLocks/>
            <a:endCxn id="26" idx="1"/>
          </p:cNvCxnSpPr>
          <p:nvPr/>
        </p:nvCxnSpPr>
        <p:spPr>
          <a:xfrm>
            <a:off x="5577840" y="5230368"/>
            <a:ext cx="594360" cy="4572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72200" y="4846320"/>
            <a:ext cx="2148840" cy="77724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956048"/>
            <a:ext cx="1965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300" b="1" dirty="0">
                <a:solidFill>
                  <a:srgbClr val="193D65"/>
                </a:solidFill>
                <a:latin typeface="Aptos"/>
              </a:rPr>
              <a:t>FIELD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212080"/>
            <a:ext cx="1965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000" dirty="0">
                <a:solidFill>
                  <a:srgbClr val="1F2A33"/>
                </a:solidFill>
                <a:latin typeface="Aptos"/>
              </a:rPr>
              <a:t>Teacher + native-
speaker evaluation</a:t>
            </a:r>
          </a:p>
        </p:txBody>
      </p:sp>
      <p:cxnSp>
        <p:nvCxnSpPr>
          <p:cNvPr id="29" name="Connector 28"/>
          <p:cNvCxnSpPr>
            <a:cxnSpLocks/>
            <a:endCxn id="30" idx="1"/>
          </p:cNvCxnSpPr>
          <p:nvPr/>
        </p:nvCxnSpPr>
        <p:spPr>
          <a:xfrm>
            <a:off x="8321040" y="5230368"/>
            <a:ext cx="594360" cy="4572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15400" y="4846320"/>
            <a:ext cx="2148840" cy="77724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4956048"/>
            <a:ext cx="1965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300" b="1" dirty="0">
                <a:solidFill>
                  <a:srgbClr val="193D65"/>
                </a:solidFill>
                <a:latin typeface="Aptos"/>
              </a:rPr>
              <a:t>EXPAND</a:t>
            </a:r>
            <a:endParaRPr sz="13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5175504"/>
            <a:ext cx="1965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000" dirty="0">
                <a:solidFill>
                  <a:srgbClr val="1F2A33"/>
                </a:solidFill>
                <a:latin typeface="Aptos"/>
              </a:rPr>
              <a:t>Kurukh • Kharia
+ more curriculum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7B5348E-CF76-DDB6-1996-299F4BDB842B}"/>
              </a:ext>
            </a:extLst>
          </p:cNvPr>
          <p:cNvSpPr/>
          <p:nvPr/>
        </p:nvSpPr>
        <p:spPr>
          <a:xfrm>
            <a:off x="320040" y="233276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26228A58-5BA4-FEB6-E57A-4549E1CDEC3C}"/>
              </a:ext>
            </a:extLst>
          </p:cNvPr>
          <p:cNvSpPr txBox="1">
            <a:spLocks/>
          </p:cNvSpPr>
          <p:nvPr/>
        </p:nvSpPr>
        <p:spPr>
          <a:xfrm>
            <a:off x="558275" y="316169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102F21F-8A36-2283-C638-0CA2FCDE0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0360D2C-F6D6-87CF-5A50-E956A0E37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0" name="Footer Placeholder 6">
            <a:extLst>
              <a:ext uri="{FF2B5EF4-FFF2-40B4-BE49-F238E27FC236}">
                <a16:creationId xmlns:a16="http://schemas.microsoft.com/office/drawing/2014/main" id="{9E9076C5-1199-E5E2-C473-FD5A4F13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E340E714-34F8-1701-8D1E-A1899528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148840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426F"/>
                </a:solidFill>
                <a:latin typeface="Aptos"/>
              </a:rPr>
              <a:t>Impact &amp;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88920"/>
            <a:ext cx="25146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73152" cy="1417320"/>
          </a:xfrm>
          <a:prstGeom prst="rect">
            <a:avLst/>
          </a:prstGeom>
          <a:solidFill>
            <a:srgbClr val="00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898648"/>
            <a:ext cx="2221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26F"/>
                </a:solidFill>
                <a:latin typeface="Aptos"/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223050"/>
            <a:ext cx="2221992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300" dirty="0">
                <a:solidFill>
                  <a:srgbClr val="1F2A33"/>
                </a:solidFill>
                <a:latin typeface="Aptos"/>
              </a:rPr>
              <a:t>Understand concepts in a familiar language
→ stronger participation, oral language and FLN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788920"/>
            <a:ext cx="25146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1568" y="278892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898648"/>
            <a:ext cx="2221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26F"/>
                </a:solidFill>
                <a:latin typeface="Aptos"/>
              </a:rPr>
              <a:t>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23852"/>
            <a:ext cx="222199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dirty="0">
                <a:solidFill>
                  <a:srgbClr val="1F2A33"/>
                </a:solidFill>
                <a:latin typeface="Aptos"/>
              </a:rPr>
              <a:t>Translate + explain + generate practice material
→ less preparation friction and better classroom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788920"/>
            <a:ext cx="25146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2788920"/>
            <a:ext cx="73152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2898648"/>
            <a:ext cx="2221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426F"/>
                </a:solidFill>
                <a:latin typeface="Aptos"/>
              </a:rP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201874"/>
            <a:ext cx="2221992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dirty="0">
                <a:solidFill>
                  <a:srgbClr val="1F2A33"/>
                </a:solidFill>
                <a:latin typeface="Aptos"/>
              </a:rPr>
              <a:t>Local language and culturally familiar examples
→ stronger inclusion and connection between home &amp; school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2788920"/>
            <a:ext cx="25146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24544" y="2788920"/>
            <a:ext cx="73152" cy="1417320"/>
          </a:xfrm>
          <a:prstGeom prst="rect">
            <a:avLst/>
          </a:prstGeom>
          <a:solidFill>
            <a:srgbClr val="298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2898648"/>
            <a:ext cx="222199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700" b="1" dirty="0">
                <a:solidFill>
                  <a:srgbClr val="1B426F"/>
                </a:solidFill>
                <a:latin typeface="Aptos"/>
              </a:rPr>
              <a:t>GOVERNANCE</a:t>
            </a:r>
            <a:endParaRPr sz="1700" b="1" dirty="0">
              <a:solidFill>
                <a:srgbClr val="1B426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89136" y="3201874"/>
            <a:ext cx="222199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50" dirty="0">
                <a:solidFill>
                  <a:srgbClr val="1F2A33"/>
                </a:solidFill>
                <a:latin typeface="Aptos"/>
              </a:rPr>
              <a:t>Reusable curriculum packs + FLN-aligned outputs
→ scalable digital support for multilingual education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1CFD2E-253E-30A9-5111-D030F741DF68}"/>
              </a:ext>
            </a:extLst>
          </p:cNvPr>
          <p:cNvSpPr/>
          <p:nvPr/>
        </p:nvSpPr>
        <p:spPr>
          <a:xfrm>
            <a:off x="320040" y="242420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F0B9D56-7BB8-21C3-3FC0-C04357862A09}"/>
              </a:ext>
            </a:extLst>
          </p:cNvPr>
          <p:cNvSpPr txBox="1">
            <a:spLocks/>
          </p:cNvSpPr>
          <p:nvPr/>
        </p:nvSpPr>
        <p:spPr>
          <a:xfrm>
            <a:off x="510294" y="33583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1FE9D0E-F7CE-D0DC-C351-F22B9B527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7354C43-62C1-C495-823F-44DDD5F51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3" name="Footer Placeholder 6">
            <a:extLst>
              <a:ext uri="{FF2B5EF4-FFF2-40B4-BE49-F238E27FC236}">
                <a16:creationId xmlns:a16="http://schemas.microsoft.com/office/drawing/2014/main" id="{D3773DE3-22CA-FAA4-10A4-3A070AC0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EC6DF2DB-803A-CD2B-73DB-264C0C36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ed Rectangle 24">
            <a:extLst>
              <a:ext uri="{FF2B5EF4-FFF2-40B4-BE49-F238E27FC236}">
                <a16:creationId xmlns:a16="http://schemas.microsoft.com/office/drawing/2014/main" id="{C7830088-BEC1-770F-E89C-2BB94476A9DD}"/>
              </a:ext>
            </a:extLst>
          </p:cNvPr>
          <p:cNvSpPr/>
          <p:nvPr/>
        </p:nvSpPr>
        <p:spPr>
          <a:xfrm>
            <a:off x="640080" y="4526280"/>
            <a:ext cx="10881360" cy="1078992"/>
          </a:xfrm>
          <a:prstGeom prst="roundRect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1695C5-3B3A-3021-AF93-9742013067A2}"/>
              </a:ext>
            </a:extLst>
          </p:cNvPr>
          <p:cNvSpPr txBox="1"/>
          <p:nvPr/>
        </p:nvSpPr>
        <p:spPr>
          <a:xfrm>
            <a:off x="804671" y="470001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RESEARCH EVIDENCE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FB1D00-B318-6B59-87E2-31B5D9944014}"/>
              </a:ext>
            </a:extLst>
          </p:cNvPr>
          <p:cNvSpPr txBox="1"/>
          <p:nvPr/>
        </p:nvSpPr>
        <p:spPr>
          <a:xfrm>
            <a:off x="2606040" y="4700016"/>
            <a:ext cx="8549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dirty="0">
                <a:solidFill>
                  <a:srgbClr val="FFFFFF"/>
                </a:solidFill>
                <a:latin typeface="Aptos"/>
              </a:rPr>
              <a:t>UNESCO's 2025 India education report describes Jharkhand's PALASH </a:t>
            </a:r>
            <a:r>
              <a:rPr sz="960" b="0" dirty="0" err="1">
                <a:solidFill>
                  <a:srgbClr val="FFFFFF"/>
                </a:solidFill>
                <a:latin typeface="Aptos"/>
              </a:rPr>
              <a:t>programme</a:t>
            </a:r>
            <a:r>
              <a:rPr sz="960" b="0" dirty="0">
                <a:solidFill>
                  <a:srgbClr val="FFFFFF"/>
                </a:solidFill>
                <a:latin typeface="Aptos"/>
              </a:rPr>
              <a:t> across 1,000 schools in 7 districts and five tribal languages; its 2024 language-mapping survey covered 8,244 primary schools and found a major home-language / school-language mismatch.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20E1FC-C8D8-F8F9-C2F0-F2AF26AFA8A6}"/>
              </a:ext>
            </a:extLst>
          </p:cNvPr>
          <p:cNvSpPr txBox="1"/>
          <p:nvPr/>
        </p:nvSpPr>
        <p:spPr>
          <a:xfrm>
            <a:off x="658368" y="5788152"/>
            <a:ext cx="868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5B6771"/>
                </a:solidFill>
                <a:latin typeface="Aptos"/>
              </a:rPr>
              <a:t>Alignment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B71AD3-5BF5-A9DF-0C04-9DBD85F9B391}"/>
              </a:ext>
            </a:extLst>
          </p:cNvPr>
          <p:cNvSpPr txBox="1"/>
          <p:nvPr/>
        </p:nvSpPr>
        <p:spPr>
          <a:xfrm>
            <a:off x="1572768" y="5769864"/>
            <a:ext cx="9509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193D65"/>
                </a:solidFill>
                <a:latin typeface="Aptos"/>
              </a:rPr>
              <a:t>NEP 2020 • NIPUN Bharat / FLN • NCF-FS • Jharkhand PALASH / MTB-MLE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94C6D985-2E08-6509-FF72-07B94723A0E5}"/>
              </a:ext>
            </a:extLst>
          </p:cNvPr>
          <p:cNvSpPr/>
          <p:nvPr/>
        </p:nvSpPr>
        <p:spPr>
          <a:xfrm>
            <a:off x="320040" y="227825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88D56002-C399-96A4-B28D-FE724067ACDA}"/>
              </a:ext>
            </a:extLst>
          </p:cNvPr>
          <p:cNvSpPr txBox="1">
            <a:spLocks/>
          </p:cNvSpPr>
          <p:nvPr/>
        </p:nvSpPr>
        <p:spPr>
          <a:xfrm>
            <a:off x="442452" y="306336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7570665-17E9-33B2-D975-45A57A298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6437822-3F89-79BC-AC7E-8AD8868E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8" name="Footer Placeholder 6">
            <a:extLst>
              <a:ext uri="{FF2B5EF4-FFF2-40B4-BE49-F238E27FC236}">
                <a16:creationId xmlns:a16="http://schemas.microsoft.com/office/drawing/2014/main" id="{EBB0DEE2-6F75-82AA-1198-275B7BF5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819FC215-EE57-60AF-CBAF-12D38D2F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8A2479-D1A5-2DAA-C095-62A1F35AF7BB}"/>
              </a:ext>
            </a:extLst>
          </p:cNvPr>
          <p:cNvSpPr/>
          <p:nvPr/>
        </p:nvSpPr>
        <p:spPr>
          <a:xfrm>
            <a:off x="658368" y="2670048"/>
            <a:ext cx="384048" cy="384048"/>
          </a:xfrm>
          <a:prstGeom prst="ellipse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A826E6-6EBF-5D82-088D-136C508CB559}"/>
              </a:ext>
            </a:extLst>
          </p:cNvPr>
          <p:cNvSpPr txBox="1"/>
          <p:nvPr/>
        </p:nvSpPr>
        <p:spPr>
          <a:xfrm>
            <a:off x="658368" y="2743200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0BD713-07BA-D12D-A243-93EC1B9C2695}"/>
              </a:ext>
            </a:extLst>
          </p:cNvPr>
          <p:cNvSpPr txBox="1"/>
          <p:nvPr/>
        </p:nvSpPr>
        <p:spPr>
          <a:xfrm>
            <a:off x="1207008" y="2660904"/>
            <a:ext cx="4069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dirty="0">
                <a:solidFill>
                  <a:srgbClr val="193D65"/>
                </a:solidFill>
                <a:latin typeface="Aptos"/>
              </a:rPr>
              <a:t>SIH26042 — Government of Jharkhand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8C3D28-4B45-D3C5-5B17-8DE5BF6BFE31}"/>
              </a:ext>
            </a:extLst>
          </p:cNvPr>
          <p:cNvSpPr txBox="1"/>
          <p:nvPr/>
        </p:nvSpPr>
        <p:spPr>
          <a:xfrm>
            <a:off x="1207008" y="2898648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 dirty="0">
                <a:solidFill>
                  <a:srgbClr val="5B6771"/>
                </a:solidFill>
                <a:latin typeface="Aptos"/>
              </a:rPr>
              <a:t>Problem requirements: </a:t>
            </a:r>
            <a:r>
              <a:rPr sz="869" b="0" dirty="0" err="1">
                <a:solidFill>
                  <a:srgbClr val="5B6771"/>
                </a:solidFill>
                <a:latin typeface="Aptos"/>
              </a:rPr>
              <a:t>Hindi→tribal</a:t>
            </a:r>
            <a:r>
              <a:rPr sz="869" b="0" dirty="0">
                <a:solidFill>
                  <a:srgbClr val="5B6771"/>
                </a:solidFill>
                <a:latin typeface="Aptos"/>
              </a:rPr>
              <a:t> NLP, voice-to-voice ≤3s, bilingual worksheets/flashcards, offline low-cost tablet.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59512C7-4D3D-0CA7-04C8-8970E003CA74}"/>
              </a:ext>
            </a:extLst>
          </p:cNvPr>
          <p:cNvSpPr/>
          <p:nvPr/>
        </p:nvSpPr>
        <p:spPr>
          <a:xfrm>
            <a:off x="658368" y="3227832"/>
            <a:ext cx="384048" cy="384048"/>
          </a:xfrm>
          <a:prstGeom prst="ellipse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882F41-EEB7-A87D-2E3C-39E63D463AF9}"/>
              </a:ext>
            </a:extLst>
          </p:cNvPr>
          <p:cNvSpPr txBox="1"/>
          <p:nvPr/>
        </p:nvSpPr>
        <p:spPr>
          <a:xfrm>
            <a:off x="658368" y="3300984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DBF224-CED9-C406-84E9-C9E6A8B23044}"/>
              </a:ext>
            </a:extLst>
          </p:cNvPr>
          <p:cNvSpPr txBox="1"/>
          <p:nvPr/>
        </p:nvSpPr>
        <p:spPr>
          <a:xfrm>
            <a:off x="1207008" y="3218688"/>
            <a:ext cx="4069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93D65"/>
                </a:solidFill>
                <a:latin typeface="Aptos"/>
              </a:rPr>
              <a:t>NEP 2020 — Ministry of Education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10668B-129B-04DB-F0F5-65EE01A41EF5}"/>
              </a:ext>
            </a:extLst>
          </p:cNvPr>
          <p:cNvSpPr txBox="1"/>
          <p:nvPr/>
        </p:nvSpPr>
        <p:spPr>
          <a:xfrm>
            <a:off x="1207008" y="345643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B6771"/>
                </a:solidFill>
                <a:latin typeface="Aptos"/>
              </a:rPr>
              <a:t>Home/mother tongue/local language as medium wherever possible through at least Grade 5; bilingual materials encouraged.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9257120-5A87-9CF4-313A-547C10194210}"/>
              </a:ext>
            </a:extLst>
          </p:cNvPr>
          <p:cNvSpPr/>
          <p:nvPr/>
        </p:nvSpPr>
        <p:spPr>
          <a:xfrm>
            <a:off x="658368" y="3785615"/>
            <a:ext cx="384048" cy="384048"/>
          </a:xfrm>
          <a:prstGeom prst="ellipse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D0C867-B0D4-9019-F0FB-B3160EF45AB9}"/>
              </a:ext>
            </a:extLst>
          </p:cNvPr>
          <p:cNvSpPr txBox="1"/>
          <p:nvPr/>
        </p:nvSpPr>
        <p:spPr>
          <a:xfrm>
            <a:off x="658368" y="3858768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0C8650-2CB2-D0E0-CEF6-0FA62AAA9539}"/>
              </a:ext>
            </a:extLst>
          </p:cNvPr>
          <p:cNvSpPr txBox="1"/>
          <p:nvPr/>
        </p:nvSpPr>
        <p:spPr>
          <a:xfrm>
            <a:off x="1207008" y="3776472"/>
            <a:ext cx="4069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93D65"/>
                </a:solidFill>
                <a:latin typeface="Aptos"/>
              </a:rPr>
              <a:t>NIPUN Bharat Guidelines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04FC7D-2BD3-7B17-1C76-4EE59CB0F8C0}"/>
              </a:ext>
            </a:extLst>
          </p:cNvPr>
          <p:cNvSpPr txBox="1"/>
          <p:nvPr/>
        </p:nvSpPr>
        <p:spPr>
          <a:xfrm>
            <a:off x="1207008" y="4014215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B6771"/>
                </a:solidFill>
                <a:latin typeface="Aptos"/>
              </a:rPr>
              <a:t>FLN focus for foundational years; contextualised TLM, worksheets, quizzes and local-language resources.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A565579-38DA-38A3-7164-B301D485B0AA}"/>
              </a:ext>
            </a:extLst>
          </p:cNvPr>
          <p:cNvSpPr/>
          <p:nvPr/>
        </p:nvSpPr>
        <p:spPr>
          <a:xfrm>
            <a:off x="658368" y="4343400"/>
            <a:ext cx="384048" cy="384048"/>
          </a:xfrm>
          <a:prstGeom prst="ellipse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93B444-9E8A-CA03-326B-BA8139C39E2D}"/>
              </a:ext>
            </a:extLst>
          </p:cNvPr>
          <p:cNvSpPr txBox="1"/>
          <p:nvPr/>
        </p:nvSpPr>
        <p:spPr>
          <a:xfrm>
            <a:off x="658368" y="4416552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2FA9F6-FDB1-9076-6892-696675B34A5E}"/>
              </a:ext>
            </a:extLst>
          </p:cNvPr>
          <p:cNvSpPr txBox="1"/>
          <p:nvPr/>
        </p:nvSpPr>
        <p:spPr>
          <a:xfrm>
            <a:off x="1207008" y="4334256"/>
            <a:ext cx="4069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93D65"/>
                </a:solidFill>
                <a:latin typeface="Aptos"/>
              </a:rPr>
              <a:t>UNESCO — Bhasha Matters 2025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8E1694-19F7-33BB-1A16-4B8FE4CE543A}"/>
              </a:ext>
            </a:extLst>
          </p:cNvPr>
          <p:cNvSpPr txBox="1"/>
          <p:nvPr/>
        </p:nvSpPr>
        <p:spPr>
          <a:xfrm>
            <a:off x="1207008" y="457200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B6771"/>
                </a:solidFill>
                <a:latin typeface="Aptos"/>
              </a:rPr>
              <a:t>Jharkhand PALASH case study, language mapping, five tribal languages and multilingual classroom evidence.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88B70ED-227D-D9EE-576C-3A462178AB99}"/>
              </a:ext>
            </a:extLst>
          </p:cNvPr>
          <p:cNvSpPr/>
          <p:nvPr/>
        </p:nvSpPr>
        <p:spPr>
          <a:xfrm>
            <a:off x="658368" y="4901184"/>
            <a:ext cx="384048" cy="384048"/>
          </a:xfrm>
          <a:prstGeom prst="ellipse">
            <a:avLst/>
          </a:prstGeom>
          <a:solidFill>
            <a:srgbClr val="193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7616B1-224B-9149-157E-3092AE92E13A}"/>
              </a:ext>
            </a:extLst>
          </p:cNvPr>
          <p:cNvSpPr txBox="1"/>
          <p:nvPr/>
        </p:nvSpPr>
        <p:spPr>
          <a:xfrm>
            <a:off x="658368" y="4974336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F78289-79D4-1C0E-B865-EB0BBB7BC325}"/>
              </a:ext>
            </a:extLst>
          </p:cNvPr>
          <p:cNvSpPr txBox="1"/>
          <p:nvPr/>
        </p:nvSpPr>
        <p:spPr>
          <a:xfrm>
            <a:off x="1207008" y="4892040"/>
            <a:ext cx="4069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93D65"/>
                </a:solidFill>
                <a:latin typeface="Aptos"/>
              </a:rPr>
              <a:t>LLF Annual Report / MLE resources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D6201E-E716-9EF7-B922-558773A9F08D}"/>
              </a:ext>
            </a:extLst>
          </p:cNvPr>
          <p:cNvSpPr txBox="1"/>
          <p:nvPr/>
        </p:nvSpPr>
        <p:spPr>
          <a:xfrm>
            <a:off x="1207008" y="512978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B6771"/>
                </a:solidFill>
                <a:latin typeface="Aptos"/>
              </a:rPr>
              <a:t>PALASH expansion, teacher support, bilingual/culturally relevant materials and FLN-oriented multilingual education.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8B27C6-6357-C625-0D8B-4D313EEE6212}"/>
              </a:ext>
            </a:extLst>
          </p:cNvPr>
          <p:cNvSpPr txBox="1"/>
          <p:nvPr/>
        </p:nvSpPr>
        <p:spPr>
          <a:xfrm>
            <a:off x="640080" y="2148840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B426F"/>
                </a:solidFill>
                <a:latin typeface="Aptos"/>
              </a:rPr>
              <a:t>Research &amp; References</a:t>
            </a:r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6573B5D5-B073-2E88-2707-59FF422169D3}"/>
              </a:ext>
            </a:extLst>
          </p:cNvPr>
          <p:cNvSpPr/>
          <p:nvPr/>
        </p:nvSpPr>
        <p:spPr>
          <a:xfrm>
            <a:off x="6537960" y="2670048"/>
            <a:ext cx="4846320" cy="2514600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A5867-CC35-3C7B-C17D-578528FCFF17}"/>
              </a:ext>
            </a:extLst>
          </p:cNvPr>
          <p:cNvSpPr txBox="1"/>
          <p:nvPr/>
        </p:nvSpPr>
        <p:spPr>
          <a:xfrm>
            <a:off x="6784848" y="2907792"/>
            <a:ext cx="4343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77BE"/>
                </a:solidFill>
                <a:latin typeface="Aptos"/>
              </a:rPr>
              <a:t>KEY RESEARCH TAKEAWAY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E45E7-87D5-16DC-EDB3-834941262554}"/>
              </a:ext>
            </a:extLst>
          </p:cNvPr>
          <p:cNvSpPr txBox="1"/>
          <p:nvPr/>
        </p:nvSpPr>
        <p:spPr>
          <a:xfrm>
            <a:off x="6839712" y="3310128"/>
            <a:ext cx="4224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93D65"/>
                </a:solidFill>
                <a:latin typeface="Aptos"/>
              </a:rPr>
              <a:t>The strongest solution is not “AI everywhere”.
It is a validated language layer + curriculum grounding + offline delivery.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675F2-9866-E8FB-6B02-0ABDCF54A180}"/>
              </a:ext>
            </a:extLst>
          </p:cNvPr>
          <p:cNvSpPr txBox="1"/>
          <p:nvPr/>
        </p:nvSpPr>
        <p:spPr>
          <a:xfrm>
            <a:off x="6839712" y="4416552"/>
            <a:ext cx="4224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 dirty="0" err="1">
                <a:solidFill>
                  <a:srgbClr val="1F2A33"/>
                </a:solidFill>
                <a:latin typeface="Aptos"/>
              </a:rPr>
              <a:t>BhashaSetu</a:t>
            </a:r>
            <a:r>
              <a:rPr sz="980" b="0" dirty="0">
                <a:solidFill>
                  <a:srgbClr val="1F2A33"/>
                </a:solidFill>
                <a:latin typeface="Aptos"/>
              </a:rPr>
              <a:t> should measure translation accuracy, voice latency, curriculum-grounding rate, teacher usability and student comprehension — not just model output quality.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44EF-68A0-DC9A-3226-A72B2B156DB2}"/>
              </a:ext>
            </a:extLst>
          </p:cNvPr>
          <p:cNvSpPr txBox="1"/>
          <p:nvPr/>
        </p:nvSpPr>
        <p:spPr>
          <a:xfrm>
            <a:off x="6748272" y="5577840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8478"/>
                </a:solidFill>
                <a:latin typeface="Aptos"/>
              </a:rPr>
              <a:t>Bridging Language • Culture • Learning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C073F-AD98-FFF4-4606-9FF39FFF9A1B}"/>
              </a:ext>
            </a:extLst>
          </p:cNvPr>
          <p:cNvSpPr txBox="1"/>
          <p:nvPr/>
        </p:nvSpPr>
        <p:spPr>
          <a:xfrm>
            <a:off x="6748272" y="532180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193D65"/>
                </a:solidFill>
                <a:latin typeface="Aptos"/>
              </a:rPr>
              <a:t>BHASHASETU (</a:t>
            </a:r>
            <a:r>
              <a:rPr sz="1700" b="1" dirty="0" err="1">
                <a:solidFill>
                  <a:srgbClr val="193D65"/>
                </a:solidFill>
                <a:latin typeface="Aptos"/>
              </a:rPr>
              <a:t>भाषा</a:t>
            </a:r>
            <a:r>
              <a:rPr sz="1700" b="1" dirty="0">
                <a:solidFill>
                  <a:srgbClr val="193D6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93D65"/>
                </a:solidFill>
                <a:latin typeface="Aptos"/>
              </a:rPr>
              <a:t>सेतु</a:t>
            </a:r>
            <a:r>
              <a:rPr sz="1700" b="1" dirty="0">
                <a:solidFill>
                  <a:srgbClr val="193D65"/>
                </a:solidFill>
                <a:latin typeface="Aptos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7557</TotalTime>
  <Words>802</Words>
  <Application>Microsoft Office PowerPoint</Application>
  <PresentationFormat>Widescreen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AVULA GURUSAI</cp:lastModifiedBy>
  <cp:revision>155</cp:revision>
  <dcterms:created xsi:type="dcterms:W3CDTF">2013-12-12T18:46:50Z</dcterms:created>
  <dcterms:modified xsi:type="dcterms:W3CDTF">2026-09-12T07:06:16Z</dcterms:modified>
  <cp:category/>
</cp:coreProperties>
</file>