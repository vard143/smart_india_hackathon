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ED8"/>
    <a:srgbClr val="A16207"/>
    <a:srgbClr val="44450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91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5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smart-india-hackathon-two.vercel.app/" TargetMode="External"/><Relationship Id="rId4" Type="http://schemas.openxmlformats.org/officeDocument/2006/relationships/hyperlink" Target="https://drive.google.com/file/d/1JjVhEh6lYnZJ74UlYACWa8R5tPNK_mQO/view?usp=sharing" TargetMode="External"/><Relationship Id="rId5" Type="http://schemas.openxmlformats.org/officeDocument/2006/relationships/hyperlink" Target="https://smart-india-hackathon-zkq9.onrender.com/docs" TargetMode="External"/><Relationship Id="rId6" Type="http://schemas.openxmlformats.org/officeDocument/2006/relationships/hyperlink" Target="https://github.com/vard143/SMART_INDIA_HACKATH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A7BB6F-C7E4-3CDF-D0DD-B68AF3AD0A3B}"/>
              </a:ext>
            </a:extLst>
          </p:cNvPr>
          <p:cNvSpPr txBox="1"/>
          <p:nvPr/>
        </p:nvSpPr>
        <p:spPr>
          <a:xfrm>
            <a:off x="442452" y="1715881"/>
            <a:ext cx="6039824" cy="3884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26042</a:t>
            </a:r>
          </a:p>
          <a:p>
            <a:pPr algn="just">
              <a:lnSpc>
                <a:spcPct val="10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Al-Powered Vernacular Pedagogy and Real-Time Translation Tool for  Mother Tongue-Based Primary Education</a:t>
            </a:r>
          </a:p>
          <a:p>
            <a:pPr algn="just">
              <a:lnSpc>
                <a:spcPct val="100000"/>
              </a:lnSpc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  PROBLEM SOLVER123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A0BFFD68-8E2B-AABA-7C99-9E29D1B6C76C}"/>
              </a:ext>
            </a:extLst>
          </p:cNvPr>
          <p:cNvSpPr/>
          <p:nvPr/>
        </p:nvSpPr>
        <p:spPr>
          <a:xfrm>
            <a:off x="344129" y="179300"/>
            <a:ext cx="1323717" cy="82742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B426F"/>
                </a:solidFill>
                <a:latin typeface="Aptos"/>
              </a:rPr>
              <a:t>PROBLEM SOLVERS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D41BFB4-805F-A1A6-E0E6-BDDF9ECE1C42}"/>
              </a:ext>
            </a:extLst>
          </p:cNvPr>
          <p:cNvSpPr>
            <a:spLocks noGrp="1"/>
          </p:cNvSpPr>
          <p:nvPr/>
        </p:nvSpPr>
        <p:spPr bwMode="auto">
          <a:xfrm>
            <a:off x="552670" y="-27580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1D13A08-296A-E473-76E4-83665D636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49082CC-A4C0-B6A3-5A75-56E48CCA5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9AB11541-E1B9-1BE2-423A-DA81468C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4BFBEA96-7929-1EC4-CFF3-E77B80D3C544}"/>
              </a:ext>
            </a:extLst>
          </p:cNvPr>
          <p:cNvSpPr/>
          <p:nvPr/>
        </p:nvSpPr>
        <p:spPr>
          <a:xfrm>
            <a:off x="6172200" y="1184564"/>
            <a:ext cx="5559552" cy="2107276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64592" rtlCol="0" anchor="t"/>
          <a:lstStyle/>
          <a:p>
            <a:pPr algn="l">
              <a:spcAft>
                <a:spcPts val="250"/>
              </a:spcAft>
              <a:defRPr sz="1150" b="1">
                <a:solidFill>
                  <a:srgbClr val="059669"/>
                </a:solidFill>
                <a:latin typeface="Arial"/>
              </a:defRPr>
            </a:pPr>
            <a:r>
              <a:rPr dirty="0"/>
              <a:t>➤  INNOVATION &amp; UNIQUENESS</a:t>
            </a:r>
          </a:p>
          <a:p>
            <a:pPr algn="l">
              <a:spcAft>
                <a:spcPts val="250"/>
              </a:spcAft>
            </a:pPr>
            <a:r>
              <a:rPr sz="900" b="1" dirty="0">
                <a:solidFill>
                  <a:srgbClr val="0F2744"/>
                </a:solidFill>
                <a:latin typeface="Arial"/>
              </a:rPr>
              <a:t>• Low-Resource Quality Control: </a:t>
            </a:r>
            <a:r>
              <a:rPr sz="850" dirty="0">
                <a:solidFill>
                  <a:srgbClr val="1E293B"/>
                </a:solidFill>
                <a:latin typeface="Arial"/>
              </a:rPr>
              <a:t>Verified phrase → dictionary match → fallback → untranslated status tagging to prevent misleading tribal output.</a:t>
            </a:r>
          </a:p>
          <a:p>
            <a:pPr algn="l">
              <a:spcAft>
                <a:spcPts val="250"/>
              </a:spcAft>
            </a:pPr>
            <a:r>
              <a:rPr sz="900" b="1" dirty="0">
                <a:solidFill>
                  <a:srgbClr val="0F2744"/>
                </a:solidFill>
                <a:latin typeface="Arial"/>
              </a:rPr>
              <a:t>• Offline-First Architecture: </a:t>
            </a:r>
            <a:r>
              <a:rPr sz="850" dirty="0">
                <a:solidFill>
                  <a:srgbClr val="1E293B"/>
                </a:solidFill>
                <a:latin typeface="Arial"/>
              </a:rPr>
              <a:t>Embedded SQLite database in WAL mode stores language lexicons &amp; textbook units locally on-device.</a:t>
            </a:r>
          </a:p>
          <a:p>
            <a:pPr algn="l">
              <a:spcAft>
                <a:spcPts val="250"/>
              </a:spcAft>
            </a:pPr>
            <a:r>
              <a:rPr sz="900" b="1" dirty="0">
                <a:solidFill>
                  <a:srgbClr val="0F2744"/>
                </a:solidFill>
                <a:latin typeface="Arial"/>
              </a:rPr>
              <a:t>• Culturally-Grounded Pedagogy: </a:t>
            </a:r>
            <a:r>
              <a:rPr sz="850" dirty="0">
                <a:solidFill>
                  <a:srgbClr val="1E293B"/>
                </a:solidFill>
                <a:latin typeface="Arial"/>
              </a:rPr>
              <a:t>Connects abstract FLN concepts to familiar local tribal realia (</a:t>
            </a:r>
            <a:r>
              <a:rPr sz="850" dirty="0" err="1">
                <a:solidFill>
                  <a:srgbClr val="1E293B"/>
                </a:solidFill>
                <a:latin typeface="Arial"/>
              </a:rPr>
              <a:t>Sarjom</a:t>
            </a:r>
            <a:r>
              <a:rPr sz="850" dirty="0">
                <a:solidFill>
                  <a:srgbClr val="1E293B"/>
                </a:solidFill>
                <a:latin typeface="Arial"/>
              </a:rPr>
              <a:t>/Sal seeds, Mahua trees, clay) for intuitive learning.</a:t>
            </a:r>
          </a:p>
          <a:p>
            <a:pPr algn="l">
              <a:spcAft>
                <a:spcPts val="250"/>
              </a:spcAft>
            </a:pPr>
            <a:r>
              <a:rPr sz="900" b="1" dirty="0">
                <a:solidFill>
                  <a:srgbClr val="0F2744"/>
                </a:solidFill>
                <a:latin typeface="Arial"/>
              </a:rPr>
              <a:t>• Community Language Validation: </a:t>
            </a:r>
            <a:r>
              <a:rPr sz="850" dirty="0">
                <a:solidFill>
                  <a:srgbClr val="1E293B"/>
                </a:solidFill>
                <a:latin typeface="Arial"/>
              </a:rPr>
              <a:t>Structured workflow for future native-speaker review and validation.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3129BD02-16E5-3EA5-6522-44ABE1E0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1" name="Picture 20" descr="s2_phone_hub_clean.png">
            <a:extLst>
              <a:ext uri="{FF2B5EF4-FFF2-40B4-BE49-F238E27FC236}">
                <a16:creationId xmlns:a16="http://schemas.microsoft.com/office/drawing/2014/main" id="{51AB7C59-3387-DC2E-A750-121D411C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5394960" cy="2880360"/>
          </a:xfrm>
          <a:prstGeom prst="rect">
            <a:avLst/>
          </a:prstGeom>
        </p:spPr>
      </p:pic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CF05C57C-E933-DEE6-A6CD-FD3FB3CBF51E}"/>
              </a:ext>
            </a:extLst>
          </p:cNvPr>
          <p:cNvSpPr/>
          <p:nvPr/>
        </p:nvSpPr>
        <p:spPr>
          <a:xfrm>
            <a:off x="6172200" y="3501736"/>
            <a:ext cx="2724912" cy="12988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20624" rIns="109728" rtlCol="0" anchor="t"/>
          <a:lstStyle/>
          <a:p>
            <a:pPr algn="ctr">
              <a:defRPr sz="880">
                <a:solidFill>
                  <a:srgbClr val="475569"/>
                </a:solidFill>
                <a:latin typeface="Arial"/>
              </a:defRPr>
            </a:pPr>
            <a:r>
              <a:rPr dirty="0"/>
              <a:t>Layered phrase &amp; lexicon matching with native Ol Chiki Unicode (U+1C50–U+1C7F)</a:t>
            </a:r>
          </a:p>
        </p:txBody>
      </p: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A10AE526-7648-BBE1-9C80-813C91ED6685}"/>
              </a:ext>
            </a:extLst>
          </p:cNvPr>
          <p:cNvSpPr/>
          <p:nvPr/>
        </p:nvSpPr>
        <p:spPr>
          <a:xfrm>
            <a:off x="6172200" y="3501735"/>
            <a:ext cx="2724912" cy="374073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rPr dirty="0"/>
              <a:t>[01]  Low-Resource NLP</a:t>
            </a:r>
          </a:p>
        </p:txBody>
      </p:sp>
      <p:sp>
        <p:nvSpPr>
          <p:cNvPr id="31" name="Rounded Rectangle 11">
            <a:extLst>
              <a:ext uri="{FF2B5EF4-FFF2-40B4-BE49-F238E27FC236}">
                <a16:creationId xmlns:a16="http://schemas.microsoft.com/office/drawing/2014/main" id="{2AEEBE4F-346A-1A2A-B6B8-35968A93AEC9}"/>
              </a:ext>
            </a:extLst>
          </p:cNvPr>
          <p:cNvSpPr/>
          <p:nvPr/>
        </p:nvSpPr>
        <p:spPr>
          <a:xfrm>
            <a:off x="9006840" y="3501736"/>
            <a:ext cx="2724912" cy="12988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20624" rIns="109728" rtlCol="0" anchor="t"/>
          <a:lstStyle/>
          <a:p>
            <a:pPr algn="ctr">
              <a:defRPr sz="880">
                <a:solidFill>
                  <a:srgbClr val="475569"/>
                </a:solidFill>
                <a:latin typeface="Arial"/>
              </a:defRPr>
            </a:pPr>
            <a:r>
              <a:rPr dirty="0"/>
              <a:t>Embedded SQLite WAL mode operates reliably without continuous internet connectivity</a:t>
            </a:r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8D620517-4B1A-D52B-78FA-E1EF046FE8A4}"/>
              </a:ext>
            </a:extLst>
          </p:cNvPr>
          <p:cNvSpPr/>
          <p:nvPr/>
        </p:nvSpPr>
        <p:spPr>
          <a:xfrm>
            <a:off x="9006840" y="3501736"/>
            <a:ext cx="2724912" cy="3740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[02]  Offline-First Mode</a:t>
            </a:r>
          </a:p>
        </p:txBody>
      </p:sp>
      <p:sp>
        <p:nvSpPr>
          <p:cNvPr id="35" name="Rounded Rectangle 13">
            <a:extLst>
              <a:ext uri="{FF2B5EF4-FFF2-40B4-BE49-F238E27FC236}">
                <a16:creationId xmlns:a16="http://schemas.microsoft.com/office/drawing/2014/main" id="{44D9035C-82A0-6937-41B9-570B5160A179}"/>
              </a:ext>
            </a:extLst>
          </p:cNvPr>
          <p:cNvSpPr/>
          <p:nvPr/>
        </p:nvSpPr>
        <p:spPr>
          <a:xfrm>
            <a:off x="6172200" y="5008418"/>
            <a:ext cx="2724912" cy="125522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20624" rIns="109728" rtlCol="0" anchor="t"/>
          <a:lstStyle/>
          <a:p>
            <a:pPr algn="ctr">
              <a:defRPr sz="880">
                <a:solidFill>
                  <a:srgbClr val="475569"/>
                </a:solidFill>
                <a:latin typeface="Arial"/>
              </a:defRPr>
            </a:pPr>
            <a:r>
              <a:rPr dirty="0"/>
              <a:t>Indexed to official JCERT &amp; NCERT Class 1–3 textbooks &amp; teacher hints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0683BA8C-19E6-4968-A9F9-3BEA44029A63}"/>
              </a:ext>
            </a:extLst>
          </p:cNvPr>
          <p:cNvSpPr/>
          <p:nvPr/>
        </p:nvSpPr>
        <p:spPr>
          <a:xfrm>
            <a:off x="6172200" y="5008418"/>
            <a:ext cx="2724912" cy="32211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rPr dirty="0"/>
              <a:t>[03]  Curriculum Grounding</a:t>
            </a:r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6644028C-5018-1A2E-82CA-3DB76F9FD388}"/>
              </a:ext>
            </a:extLst>
          </p:cNvPr>
          <p:cNvSpPr/>
          <p:nvPr/>
        </p:nvSpPr>
        <p:spPr>
          <a:xfrm>
            <a:off x="9006840" y="5008418"/>
            <a:ext cx="2724912" cy="125522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420624" rIns="109728" rtlCol="0" anchor="t"/>
          <a:lstStyle/>
          <a:p>
            <a:pPr algn="ctr">
              <a:defRPr sz="880">
                <a:solidFill>
                  <a:srgbClr val="475569"/>
                </a:solidFill>
                <a:latin typeface="Arial"/>
              </a:defRPr>
            </a:pPr>
            <a:r>
              <a:rPr dirty="0"/>
              <a:t>Community review layer with strict verification status tagging</a:t>
            </a:r>
          </a:p>
        </p:txBody>
      </p:sp>
      <p:sp>
        <p:nvSpPr>
          <p:cNvPr id="41" name="Rounded Rectangle 16">
            <a:extLst>
              <a:ext uri="{FF2B5EF4-FFF2-40B4-BE49-F238E27FC236}">
                <a16:creationId xmlns:a16="http://schemas.microsoft.com/office/drawing/2014/main" id="{B6993CED-BEA6-1A55-F9E6-A4A055B73521}"/>
              </a:ext>
            </a:extLst>
          </p:cNvPr>
          <p:cNvSpPr/>
          <p:nvPr/>
        </p:nvSpPr>
        <p:spPr>
          <a:xfrm>
            <a:off x="9006840" y="5008418"/>
            <a:ext cx="2724912" cy="32211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[04]  Cultural Validation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2C6D27-8467-8C43-B3B3-515E2FE74786}"/>
              </a:ext>
            </a:extLst>
          </p:cNvPr>
          <p:cNvSpPr txBox="1"/>
          <p:nvPr/>
        </p:nvSpPr>
        <p:spPr>
          <a:xfrm>
            <a:off x="493672" y="1472178"/>
            <a:ext cx="5491491" cy="1931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IN" sz="1200" b="1" dirty="0">
                <a:solidFill>
                  <a:srgbClr val="0F2744"/>
                </a:solidFill>
                <a:latin typeface="Arial Black" panose="020B0A04020102020204" pitchFamily="34" charset="0"/>
              </a:rPr>
              <a:t>• Offline-First Multilingual Pipeline</a:t>
            </a:r>
            <a:r>
              <a:rPr lang="en-IN" sz="1200" b="1" dirty="0">
                <a:solidFill>
                  <a:srgbClr val="0F274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150" dirty="0">
                <a:solidFill>
                  <a:srgbClr val="1E293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Hindi → Mother-Tongue support via local lexicons, phrase matching, script handling &amp; fallbacks. Modular language packs designed for tribal languages, with coverage depending on available validated resources.</a:t>
            </a:r>
          </a:p>
          <a:p>
            <a:pPr>
              <a:spcAft>
                <a:spcPts val="0"/>
              </a:spcAft>
            </a:pPr>
            <a:r>
              <a:rPr lang="en-IN" sz="1200" b="1" dirty="0">
                <a:solidFill>
                  <a:srgbClr val="0F2744"/>
                </a:solidFill>
                <a:latin typeface="Arial Black" panose="020B0A04020102020204" pitchFamily="34" charset="0"/>
              </a:rPr>
              <a:t>• Teacher-First Pedagogical Studio: </a:t>
            </a:r>
            <a:r>
              <a:rPr lang="en-IN" sz="1150" dirty="0">
                <a:solidFill>
                  <a:srgbClr val="1E293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Generates 14-point bilingual lesson plans grounded in tribal realia (seeds, clay, trees) and formative classroom practice.</a:t>
            </a:r>
          </a:p>
          <a:p>
            <a:pPr>
              <a:spcAft>
                <a:spcPts val="0"/>
              </a:spcAft>
            </a:pPr>
            <a:r>
              <a:rPr lang="en-IN" sz="1200" b="1" dirty="0">
                <a:solidFill>
                  <a:srgbClr val="0F2744"/>
                </a:solidFill>
                <a:latin typeface="Arial Black" panose="020B0A04020102020204" pitchFamily="34" charset="0"/>
              </a:rPr>
              <a:t>• Curriculum-Grounded Content Layer</a:t>
            </a:r>
            <a:r>
              <a:rPr lang="en-IN" sz="1200" b="1" dirty="0">
                <a:solidFill>
                  <a:srgbClr val="0F2744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150" dirty="0">
                <a:solidFill>
                  <a:srgbClr val="1E293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Ingests official NCERT/JCERT Class 1–3 textbooks, extracting pedagogical hints (</a:t>
            </a:r>
            <a:r>
              <a:rPr lang="hi-IN" sz="1150" dirty="0">
                <a:solidFill>
                  <a:srgbClr val="1E293B"/>
                </a:solidFill>
                <a:ea typeface="Calibri" panose="020F0502020204030204" pitchFamily="34" charset="0"/>
              </a:rPr>
              <a:t>शिक्षण-संकेत) </a:t>
            </a:r>
            <a:r>
              <a:rPr lang="en-IN" sz="1150" dirty="0">
                <a:solidFill>
                  <a:srgbClr val="1E293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and chapter stories.</a:t>
            </a:r>
          </a:p>
          <a:p>
            <a:pPr>
              <a:spcAft>
                <a:spcPts val="250"/>
              </a:spcAft>
            </a:pPr>
            <a:r>
              <a:rPr lang="en-IN" sz="1200" b="1" dirty="0">
                <a:solidFill>
                  <a:srgbClr val="0F2744"/>
                </a:solidFill>
                <a:latin typeface="Arial Black" panose="020B0A04020102020204" pitchFamily="34" charset="0"/>
              </a:rPr>
              <a:t>• Voice &amp; Multimodal Worksheets: </a:t>
            </a:r>
            <a:r>
              <a:rPr lang="en-IN" sz="1150" dirty="0">
                <a:solidFill>
                  <a:srgbClr val="1E293B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Local voice architecture + Web Speech API + native Ol Chiki Unicode (U+1C50–U+1C7F) &amp; printable A4 worksheets.</a:t>
            </a:r>
          </a:p>
          <a:p>
            <a:pPr>
              <a:spcAft>
                <a:spcPts val="250"/>
              </a:spcAft>
            </a:pPr>
            <a:endParaRPr lang="en-IN" sz="1150" dirty="0">
              <a:solidFill>
                <a:srgbClr val="1E293B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9E71F0-6620-A76E-A283-98206926BC1C}"/>
              </a:ext>
            </a:extLst>
          </p:cNvPr>
          <p:cNvSpPr txBox="1"/>
          <p:nvPr/>
        </p:nvSpPr>
        <p:spPr>
          <a:xfrm>
            <a:off x="493673" y="1162592"/>
            <a:ext cx="326274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50"/>
              </a:spcAft>
              <a:defRPr sz="1150" b="1">
                <a:solidFill>
                  <a:srgbClr val="1E3A8A"/>
                </a:solidFill>
                <a:latin typeface="Arial"/>
              </a:defRPr>
            </a:pPr>
            <a:r>
              <a:rPr lang="en-IN" sz="1500" dirty="0">
                <a:solidFill>
                  <a:srgbClr val="1D4ED8"/>
                </a:solidFill>
              </a:rPr>
              <a:t>❖  PROPOSED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8203B924-1802-54DE-2C05-1510AD882576}"/>
              </a:ext>
            </a:extLst>
          </p:cNvPr>
          <p:cNvSpPr/>
          <p:nvPr/>
        </p:nvSpPr>
        <p:spPr>
          <a:xfrm>
            <a:off x="312764" y="145476"/>
            <a:ext cx="1323717" cy="82742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B426F"/>
                </a:solidFill>
                <a:latin typeface="Aptos"/>
              </a:rPr>
              <a:t>PROBLEM SOLVERS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829730B-249F-738A-C754-8115F7BE765E}"/>
              </a:ext>
            </a:extLst>
          </p:cNvPr>
          <p:cNvSpPr txBox="1">
            <a:spLocks/>
          </p:cNvSpPr>
          <p:nvPr/>
        </p:nvSpPr>
        <p:spPr>
          <a:xfrm>
            <a:off x="429768" y="188353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3BF7E35-5BC9-177A-530F-3EA92CFDC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48E0F27-CF80-C541-ED57-BB62F1EC6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Footer Placeholder 6">
            <a:extLst>
              <a:ext uri="{FF2B5EF4-FFF2-40B4-BE49-F238E27FC236}">
                <a16:creationId xmlns:a16="http://schemas.microsoft.com/office/drawing/2014/main" id="{EB130D4F-1BF9-0943-6E31-DAD7BDC34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8E9781B-0390-8212-5749-2778B701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572C8EA9-7EC3-09B4-5FEB-A3FE6A2C59D6}"/>
              </a:ext>
            </a:extLst>
          </p:cNvPr>
          <p:cNvSpPr/>
          <p:nvPr/>
        </p:nvSpPr>
        <p:spPr>
          <a:xfrm>
            <a:off x="457200" y="4220787"/>
            <a:ext cx="5349240" cy="20574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tlCol="0" anchor="t"/>
          <a:lstStyle/>
          <a:p>
            <a:pPr algn="l">
              <a:defRPr sz="1000" b="1">
                <a:solidFill>
                  <a:srgbClr val="0F2744"/>
                </a:solidFill>
                <a:latin typeface="Arial"/>
              </a:defRPr>
            </a:pPr>
            <a:r>
              <a:t>CORE TECHNOLOGY STACK COMPONENTS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C2A3110-E606-0BCC-F575-41E1F0ED7924}"/>
              </a:ext>
            </a:extLst>
          </p:cNvPr>
          <p:cNvSpPr/>
          <p:nvPr/>
        </p:nvSpPr>
        <p:spPr>
          <a:xfrm>
            <a:off x="566928" y="4645152"/>
            <a:ext cx="713232" cy="713232"/>
          </a:xfrm>
          <a:prstGeom prst="ellipse">
            <a:avLst/>
          </a:prstGeom>
          <a:solidFill>
            <a:srgbClr val="1E3A8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PY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2DA576-363E-EFD6-997C-617F48B57F65}"/>
              </a:ext>
            </a:extLst>
          </p:cNvPr>
          <p:cNvSpPr txBox="1"/>
          <p:nvPr/>
        </p:nvSpPr>
        <p:spPr>
          <a:xfrm>
            <a:off x="493776" y="5376672"/>
            <a:ext cx="85953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50" b="1">
                <a:solidFill>
                  <a:srgbClr val="0F2744"/>
                </a:solidFill>
                <a:latin typeface="Arial"/>
              </a:defRPr>
            </a:pPr>
            <a:r>
              <a:t>Python 3.11</a:t>
            </a:r>
          </a:p>
          <a:p>
            <a:pPr algn="ctr">
              <a:defRPr sz="750">
                <a:solidFill>
                  <a:srgbClr val="475569"/>
                </a:solidFill>
                <a:latin typeface="Arial"/>
              </a:defRPr>
            </a:pPr>
            <a:r>
              <a:t>NLP &amp; Engine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50291CE-96A1-682E-B745-15ADB4BCC74A}"/>
              </a:ext>
            </a:extLst>
          </p:cNvPr>
          <p:cNvSpPr/>
          <p:nvPr/>
        </p:nvSpPr>
        <p:spPr>
          <a:xfrm>
            <a:off x="1417320" y="4645152"/>
            <a:ext cx="713232" cy="713232"/>
          </a:xfrm>
          <a:prstGeom prst="ellipse">
            <a:avLst/>
          </a:prstGeom>
          <a:solidFill>
            <a:srgbClr val="05966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FA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14C56A-0267-2642-E154-50D94E53063A}"/>
              </a:ext>
            </a:extLst>
          </p:cNvPr>
          <p:cNvSpPr txBox="1"/>
          <p:nvPr/>
        </p:nvSpPr>
        <p:spPr>
          <a:xfrm>
            <a:off x="1344168" y="5376672"/>
            <a:ext cx="85953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50" b="1">
                <a:solidFill>
                  <a:srgbClr val="0F2744"/>
                </a:solidFill>
                <a:latin typeface="Arial"/>
              </a:defRPr>
            </a:pPr>
            <a:r>
              <a:t>FastAPI</a:t>
            </a:r>
          </a:p>
          <a:p>
            <a:pPr algn="ctr">
              <a:defRPr sz="750">
                <a:solidFill>
                  <a:srgbClr val="475569"/>
                </a:solidFill>
                <a:latin typeface="Arial"/>
              </a:defRPr>
            </a:pPr>
            <a:r>
              <a:t>Async REST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322C9AC-05C0-F899-8594-4172692741EB}"/>
              </a:ext>
            </a:extLst>
          </p:cNvPr>
          <p:cNvSpPr/>
          <p:nvPr/>
        </p:nvSpPr>
        <p:spPr>
          <a:xfrm>
            <a:off x="2267712" y="4645152"/>
            <a:ext cx="713232" cy="71323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0FF2AD-B7B7-5D78-185B-F24E0040558D}"/>
              </a:ext>
            </a:extLst>
          </p:cNvPr>
          <p:cNvSpPr txBox="1"/>
          <p:nvPr/>
        </p:nvSpPr>
        <p:spPr>
          <a:xfrm>
            <a:off x="2194560" y="5376672"/>
            <a:ext cx="85953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50" b="1">
                <a:solidFill>
                  <a:srgbClr val="0F2744"/>
                </a:solidFill>
                <a:latin typeface="Arial"/>
              </a:defRPr>
            </a:pPr>
            <a:r>
              <a:t>React 19</a:t>
            </a:r>
          </a:p>
          <a:p>
            <a:pPr algn="ctr">
              <a:defRPr sz="750">
                <a:solidFill>
                  <a:srgbClr val="475569"/>
                </a:solidFill>
                <a:latin typeface="Arial"/>
              </a:defRPr>
            </a:pPr>
            <a:r>
              <a:t>PWA Studio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BC4C389-FB24-AFE8-F836-8F50FC35F487}"/>
              </a:ext>
            </a:extLst>
          </p:cNvPr>
          <p:cNvSpPr/>
          <p:nvPr/>
        </p:nvSpPr>
        <p:spPr>
          <a:xfrm>
            <a:off x="3118104" y="4645152"/>
            <a:ext cx="713232" cy="713232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SQ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471AC5-7404-AFC0-D4EB-C909EAD60925}"/>
              </a:ext>
            </a:extLst>
          </p:cNvPr>
          <p:cNvSpPr txBox="1"/>
          <p:nvPr/>
        </p:nvSpPr>
        <p:spPr>
          <a:xfrm>
            <a:off x="3044952" y="5376672"/>
            <a:ext cx="85953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50" b="1">
                <a:solidFill>
                  <a:srgbClr val="0F2744"/>
                </a:solidFill>
                <a:latin typeface="Arial"/>
              </a:defRPr>
            </a:pPr>
            <a:r>
              <a:t>SQLite WAL</a:t>
            </a:r>
          </a:p>
          <a:p>
            <a:pPr algn="ctr">
              <a:defRPr sz="750">
                <a:solidFill>
                  <a:srgbClr val="475569"/>
                </a:solidFill>
                <a:latin typeface="Arial"/>
              </a:defRPr>
            </a:pPr>
            <a:r>
              <a:t>Local DB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7DDCDAD-464A-C445-F2EF-05C54421471E}"/>
              </a:ext>
            </a:extLst>
          </p:cNvPr>
          <p:cNvSpPr/>
          <p:nvPr/>
        </p:nvSpPr>
        <p:spPr>
          <a:xfrm>
            <a:off x="3968496" y="4645152"/>
            <a:ext cx="713232" cy="713232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OL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5F08F5-CD15-3012-7827-7E7A9F77A2C9}"/>
              </a:ext>
            </a:extLst>
          </p:cNvPr>
          <p:cNvSpPr txBox="1"/>
          <p:nvPr/>
        </p:nvSpPr>
        <p:spPr>
          <a:xfrm>
            <a:off x="3895344" y="5376672"/>
            <a:ext cx="85953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50" b="1">
                <a:solidFill>
                  <a:srgbClr val="0F2744"/>
                </a:solidFill>
                <a:latin typeface="Arial"/>
              </a:defRPr>
            </a:pPr>
            <a:r>
              <a:t>Ol Chiki</a:t>
            </a:r>
          </a:p>
          <a:p>
            <a:pPr algn="ctr">
              <a:defRPr sz="750">
                <a:solidFill>
                  <a:srgbClr val="475569"/>
                </a:solidFill>
                <a:latin typeface="Arial"/>
              </a:defRPr>
            </a:pPr>
            <a:r>
              <a:t>Unicode Font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4545DE6-234E-33B8-057C-F390D4DB98C2}"/>
              </a:ext>
            </a:extLst>
          </p:cNvPr>
          <p:cNvSpPr/>
          <p:nvPr/>
        </p:nvSpPr>
        <p:spPr>
          <a:xfrm>
            <a:off x="4818888" y="4645152"/>
            <a:ext cx="713232" cy="7132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PDF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41DD88-296E-2C53-9449-7EFEADC7FBBC}"/>
              </a:ext>
            </a:extLst>
          </p:cNvPr>
          <p:cNvSpPr txBox="1"/>
          <p:nvPr/>
        </p:nvSpPr>
        <p:spPr>
          <a:xfrm>
            <a:off x="4745736" y="5376672"/>
            <a:ext cx="859536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50" b="1">
                <a:solidFill>
                  <a:srgbClr val="0F2744"/>
                </a:solidFill>
                <a:latin typeface="Arial"/>
              </a:defRPr>
            </a:pPr>
            <a:r>
              <a:t>PyMuPDF</a:t>
            </a:r>
          </a:p>
          <a:p>
            <a:pPr algn="ctr">
              <a:defRPr sz="750">
                <a:solidFill>
                  <a:srgbClr val="475569"/>
                </a:solidFill>
                <a:latin typeface="Arial"/>
              </a:defRPr>
            </a:pPr>
            <a:r>
              <a:t>Book Parser</a:t>
            </a:r>
          </a:p>
        </p:txBody>
      </p:sp>
      <p:sp>
        <p:nvSpPr>
          <p:cNvPr id="53" name="Rounded Rectangle 21">
            <a:extLst>
              <a:ext uri="{FF2B5EF4-FFF2-40B4-BE49-F238E27FC236}">
                <a16:creationId xmlns:a16="http://schemas.microsoft.com/office/drawing/2014/main" id="{9AABBC01-05B4-3CFC-4451-8EA6C6A2AE3A}"/>
              </a:ext>
            </a:extLst>
          </p:cNvPr>
          <p:cNvSpPr/>
          <p:nvPr/>
        </p:nvSpPr>
        <p:spPr>
          <a:xfrm>
            <a:off x="6035040" y="1063837"/>
            <a:ext cx="5696712" cy="902123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91440" rIns="137160" rtlCol="0" anchor="t"/>
          <a:lstStyle/>
          <a:p>
            <a:pPr algn="l">
              <a:spcAft>
                <a:spcPts val="250"/>
              </a:spcAft>
              <a:defRPr sz="1019" b="1">
                <a:solidFill>
                  <a:srgbClr val="1E3A8A"/>
                </a:solidFill>
                <a:latin typeface="Arial"/>
              </a:defRPr>
            </a:pPr>
            <a:r>
              <a:rPr dirty="0"/>
              <a:t>1. User Query / Lesson Input</a:t>
            </a:r>
          </a:p>
          <a:p>
            <a:pPr algn="l">
              <a:defRPr sz="880">
                <a:solidFill>
                  <a:srgbClr val="1E293B"/>
                </a:solidFill>
                <a:latin typeface="Arial"/>
              </a:defRPr>
            </a:pPr>
            <a:r>
              <a:rPr dirty="0"/>
              <a:t>Teacher speaks/types Hindi lesson intent or selects an official JCERT/NCERT chapter (Sarangi, Math, Mridang, Veena).</a:t>
            </a: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6997359-08DE-0C10-C432-880D6B348E21}"/>
              </a:ext>
            </a:extLst>
          </p:cNvPr>
          <p:cNvSpPr/>
          <p:nvPr/>
        </p:nvSpPr>
        <p:spPr>
          <a:xfrm>
            <a:off x="6035040" y="1063837"/>
            <a:ext cx="128016" cy="902123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23">
            <a:extLst>
              <a:ext uri="{FF2B5EF4-FFF2-40B4-BE49-F238E27FC236}">
                <a16:creationId xmlns:a16="http://schemas.microsoft.com/office/drawing/2014/main" id="{471BC15C-525D-5758-350D-33FF5C4849C0}"/>
              </a:ext>
            </a:extLst>
          </p:cNvPr>
          <p:cNvSpPr/>
          <p:nvPr/>
        </p:nvSpPr>
        <p:spPr>
          <a:xfrm>
            <a:off x="6035040" y="2130136"/>
            <a:ext cx="5696712" cy="84166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91440" rIns="137160" rtlCol="0" anchor="t"/>
          <a:lstStyle/>
          <a:p>
            <a:pPr algn="l">
              <a:spcAft>
                <a:spcPts val="250"/>
              </a:spcAft>
              <a:defRPr sz="1019" b="1">
                <a:solidFill>
                  <a:srgbClr val="059669"/>
                </a:solidFill>
                <a:latin typeface="Arial"/>
              </a:defRPr>
            </a:pPr>
            <a:r>
              <a:rPr dirty="0"/>
              <a:t>2. Layered Language Processing Pipeline</a:t>
            </a:r>
          </a:p>
          <a:p>
            <a:pPr algn="l">
              <a:defRPr sz="880">
                <a:solidFill>
                  <a:srgbClr val="1E293B"/>
                </a:solidFill>
                <a:latin typeface="Arial"/>
              </a:defRPr>
            </a:pPr>
            <a:r>
              <a:rPr dirty="0"/>
              <a:t>Hierarchical matching: Exact verified phrase lookup → Curated dictionary lexicon → Contextual rules &amp; script translation.</a:t>
            </a:r>
          </a:p>
        </p:txBody>
      </p:sp>
      <p:sp>
        <p:nvSpPr>
          <p:cNvPr id="59" name="Rounded Rectangle 24">
            <a:extLst>
              <a:ext uri="{FF2B5EF4-FFF2-40B4-BE49-F238E27FC236}">
                <a16:creationId xmlns:a16="http://schemas.microsoft.com/office/drawing/2014/main" id="{42387B61-484D-8B42-B78D-023476CC2BBD}"/>
              </a:ext>
            </a:extLst>
          </p:cNvPr>
          <p:cNvSpPr/>
          <p:nvPr/>
        </p:nvSpPr>
        <p:spPr>
          <a:xfrm>
            <a:off x="6035040" y="2130136"/>
            <a:ext cx="128016" cy="84166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245300F0-69DD-0155-C1C3-42D8B2D5A34C}"/>
              </a:ext>
            </a:extLst>
          </p:cNvPr>
          <p:cNvSpPr/>
          <p:nvPr/>
        </p:nvSpPr>
        <p:spPr>
          <a:xfrm>
            <a:off x="6035040" y="3138055"/>
            <a:ext cx="5696712" cy="93102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91440" rIns="137160" rtlCol="0" anchor="t"/>
          <a:lstStyle/>
          <a:p>
            <a:pPr algn="l">
              <a:spcAft>
                <a:spcPts val="250"/>
              </a:spcAft>
              <a:defRPr sz="1019" b="1">
                <a:solidFill>
                  <a:srgbClr val="D97706"/>
                </a:solidFill>
                <a:latin typeface="Arial"/>
              </a:defRPr>
            </a:pPr>
            <a:r>
              <a:rPr dirty="0"/>
              <a:t>3. Translation Quality &amp; Fallback Layer</a:t>
            </a:r>
          </a:p>
          <a:p>
            <a:pPr algn="l">
              <a:defRPr sz="880">
                <a:solidFill>
                  <a:srgbClr val="1E293B"/>
                </a:solidFill>
                <a:latin typeface="Arial"/>
              </a:defRPr>
            </a:pPr>
            <a:r>
              <a:rPr dirty="0"/>
              <a:t>Enforces 4-tier status gating: VERIFIED_NATIVE, DICTIONARY_MATCH, FALLBACK, or UNTRANSLATED (prevents unverified output from being presented as authoritative).</a:t>
            </a:r>
          </a:p>
        </p:txBody>
      </p:sp>
      <p:sp>
        <p:nvSpPr>
          <p:cNvPr id="63" name="Rounded Rectangle 26">
            <a:extLst>
              <a:ext uri="{FF2B5EF4-FFF2-40B4-BE49-F238E27FC236}">
                <a16:creationId xmlns:a16="http://schemas.microsoft.com/office/drawing/2014/main" id="{396124E3-11EA-EE45-7765-74A6934266CF}"/>
              </a:ext>
            </a:extLst>
          </p:cNvPr>
          <p:cNvSpPr/>
          <p:nvPr/>
        </p:nvSpPr>
        <p:spPr>
          <a:xfrm>
            <a:off x="6035040" y="3138055"/>
            <a:ext cx="128016" cy="93102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27">
            <a:extLst>
              <a:ext uri="{FF2B5EF4-FFF2-40B4-BE49-F238E27FC236}">
                <a16:creationId xmlns:a16="http://schemas.microsoft.com/office/drawing/2014/main" id="{7AAE7832-6E0B-D3B7-A77E-6F559E1218A8}"/>
              </a:ext>
            </a:extLst>
          </p:cNvPr>
          <p:cNvSpPr/>
          <p:nvPr/>
        </p:nvSpPr>
        <p:spPr>
          <a:xfrm>
            <a:off x="6035040" y="4220786"/>
            <a:ext cx="5696712" cy="945573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91440" rIns="137160" rtlCol="0" anchor="t"/>
          <a:lstStyle/>
          <a:p>
            <a:pPr algn="l">
              <a:spcAft>
                <a:spcPts val="250"/>
              </a:spcAft>
              <a:defRPr sz="1019" b="1">
                <a:solidFill>
                  <a:srgbClr val="1E3A8A"/>
                </a:solidFill>
                <a:latin typeface="Arial"/>
              </a:defRPr>
            </a:pPr>
            <a:r>
              <a:rPr dirty="0"/>
              <a:t>4. Local DB &amp; Curriculum Knowledge Fetch</a:t>
            </a:r>
          </a:p>
          <a:p>
            <a:pPr algn="l">
              <a:defRPr sz="880">
                <a:solidFill>
                  <a:srgbClr val="1E293B"/>
                </a:solidFill>
                <a:latin typeface="Arial"/>
              </a:defRPr>
            </a:pPr>
            <a:r>
              <a:rPr dirty="0"/>
              <a:t>Lightweight SQLite local retrieval fetches official teacher hints (</a:t>
            </a:r>
            <a:r>
              <a:rPr dirty="0" err="1"/>
              <a:t>शिक्षण-संकेत</a:t>
            </a:r>
            <a:r>
              <a:rPr dirty="0"/>
              <a:t>), chapter story text &amp; cultural realia.</a:t>
            </a:r>
          </a:p>
        </p:txBody>
      </p:sp>
      <p:sp>
        <p:nvSpPr>
          <p:cNvPr id="67" name="Rounded Rectangle 28">
            <a:extLst>
              <a:ext uri="{FF2B5EF4-FFF2-40B4-BE49-F238E27FC236}">
                <a16:creationId xmlns:a16="http://schemas.microsoft.com/office/drawing/2014/main" id="{152B1263-DBBA-0429-F821-4DD73934F2FF}"/>
              </a:ext>
            </a:extLst>
          </p:cNvPr>
          <p:cNvSpPr/>
          <p:nvPr/>
        </p:nvSpPr>
        <p:spPr>
          <a:xfrm>
            <a:off x="6035040" y="4220786"/>
            <a:ext cx="128016" cy="945573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29">
            <a:extLst>
              <a:ext uri="{FF2B5EF4-FFF2-40B4-BE49-F238E27FC236}">
                <a16:creationId xmlns:a16="http://schemas.microsoft.com/office/drawing/2014/main" id="{C38334CA-D947-0773-46FD-9728D421BC0E}"/>
              </a:ext>
            </a:extLst>
          </p:cNvPr>
          <p:cNvSpPr/>
          <p:nvPr/>
        </p:nvSpPr>
        <p:spPr>
          <a:xfrm>
            <a:off x="6035040" y="5257800"/>
            <a:ext cx="5696712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91440" rIns="137160" rtlCol="0" anchor="t"/>
          <a:lstStyle/>
          <a:p>
            <a:pPr algn="l">
              <a:spcAft>
                <a:spcPts val="250"/>
              </a:spcAft>
              <a:defRPr sz="1019" b="1">
                <a:solidFill>
                  <a:srgbClr val="059669"/>
                </a:solidFill>
                <a:latin typeface="Arial"/>
              </a:defRPr>
            </a:pPr>
            <a:r>
              <a:rPr dirty="0"/>
              <a:t>5. Multimodal Output Generation</a:t>
            </a:r>
          </a:p>
          <a:p>
            <a:pPr algn="l">
              <a:defRPr sz="880">
                <a:solidFill>
                  <a:srgbClr val="1E293B"/>
                </a:solidFill>
                <a:latin typeface="Arial"/>
              </a:defRPr>
            </a:pPr>
            <a:r>
              <a:rPr dirty="0"/>
              <a:t>Delivers target-language text, script/pronunciation support, audio playback capability and printable worksheets.</a:t>
            </a:r>
          </a:p>
        </p:txBody>
      </p:sp>
      <p:sp>
        <p:nvSpPr>
          <p:cNvPr id="71" name="Rounded Rectangle 30">
            <a:extLst>
              <a:ext uri="{FF2B5EF4-FFF2-40B4-BE49-F238E27FC236}">
                <a16:creationId xmlns:a16="http://schemas.microsoft.com/office/drawing/2014/main" id="{4AE7598F-2DB2-3962-9C65-C4595DD3F5F3}"/>
              </a:ext>
            </a:extLst>
          </p:cNvPr>
          <p:cNvSpPr/>
          <p:nvPr/>
        </p:nvSpPr>
        <p:spPr>
          <a:xfrm>
            <a:off x="6035040" y="5257800"/>
            <a:ext cx="128016" cy="10058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58CA58-3D17-3A25-3D90-49755546298D}"/>
              </a:ext>
            </a:extLst>
          </p:cNvPr>
          <p:cNvSpPr txBox="1"/>
          <p:nvPr/>
        </p:nvSpPr>
        <p:spPr>
          <a:xfrm>
            <a:off x="461772" y="3138055"/>
            <a:ext cx="5143500" cy="781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120" dirty="0"/>
              <a:t>• </a:t>
            </a:r>
            <a:r>
              <a:rPr lang="en-IN" sz="1120" dirty="0" err="1"/>
              <a:t>FastAPI</a:t>
            </a:r>
            <a:r>
              <a:rPr lang="en-IN" sz="1120" dirty="0"/>
              <a:t> asynchronous Python 3.11 backend with REST routing for lesson planning.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120" dirty="0"/>
              <a:t>• React 19 + TypeScript + Tailwind CSS responsive PWA for school tablets &amp; laptops.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rPr lang="en-IN" sz="1120" dirty="0"/>
              <a:t>•  SQLite3 in WAL mode (Write-Ahead Logging) for ultra-fast local database operations.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6DB6C36-F729-E4DE-45D8-0AC30F00C41E}"/>
              </a:ext>
            </a:extLst>
          </p:cNvPr>
          <p:cNvSpPr txBox="1"/>
          <p:nvPr/>
        </p:nvSpPr>
        <p:spPr>
          <a:xfrm>
            <a:off x="461772" y="1739773"/>
            <a:ext cx="557784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defRPr sz="880">
                <a:solidFill>
                  <a:srgbClr val="1E293B"/>
                </a:solidFill>
                <a:latin typeface="Arial"/>
              </a:defRPr>
            </a:pPr>
            <a:r>
              <a:rPr lang="en-IN" sz="1080" b="1" dirty="0"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080" b="1" dirty="0" err="1">
                <a:ea typeface="Calibri" panose="020F0502020204030204" pitchFamily="34" charset="0"/>
                <a:cs typeface="Calibri" panose="020F0502020204030204" pitchFamily="34" charset="0"/>
              </a:rPr>
              <a:t>PyMuPDF</a:t>
            </a:r>
            <a:r>
              <a:rPr lang="en-IN" sz="1080" b="1" dirty="0">
                <a:ea typeface="Calibri" panose="020F0502020204030204" pitchFamily="34" charset="0"/>
                <a:cs typeface="Calibri" panose="020F0502020204030204" pitchFamily="34" charset="0"/>
              </a:rPr>
              <a:t> extracts chapters, stories &amp; teacher hints (</a:t>
            </a:r>
            <a:r>
              <a:rPr lang="hi-IN" sz="1080" b="1" dirty="0">
                <a:ea typeface="Calibri" panose="020F0502020204030204" pitchFamily="34" charset="0"/>
              </a:rPr>
              <a:t>शिक्षण-संकेत) </a:t>
            </a:r>
            <a:r>
              <a:rPr lang="en-IN" sz="1080" b="1" dirty="0">
                <a:ea typeface="Calibri" panose="020F0502020204030204" pitchFamily="34" charset="0"/>
                <a:cs typeface="Calibri" panose="020F0502020204030204" pitchFamily="34" charset="0"/>
              </a:rPr>
              <a:t>from textbook PDFs.</a:t>
            </a:r>
          </a:p>
          <a:p>
            <a:pPr>
              <a:spcAft>
                <a:spcPts val="300"/>
              </a:spcAft>
              <a:defRPr sz="880">
                <a:solidFill>
                  <a:srgbClr val="1E293B"/>
                </a:solidFill>
                <a:latin typeface="Arial"/>
              </a:defRPr>
            </a:pPr>
            <a:r>
              <a:rPr lang="en-IN" sz="1080" b="1" dirty="0">
                <a:ea typeface="Calibri" panose="020F0502020204030204" pitchFamily="34" charset="0"/>
                <a:cs typeface="Calibri" panose="020F0502020204030204" pitchFamily="34" charset="0"/>
              </a:rPr>
              <a:t>• ReportLab generates bilingual A4 classroom worksheets with Ol Chiki Unicode.</a:t>
            </a:r>
          </a:p>
          <a:p>
            <a:pPr>
              <a:spcAft>
                <a:spcPts val="300"/>
              </a:spcAft>
              <a:defRPr sz="880">
                <a:solidFill>
                  <a:srgbClr val="1E293B"/>
                </a:solidFill>
                <a:latin typeface="Arial"/>
              </a:defRPr>
            </a:pPr>
            <a:r>
              <a:rPr lang="en-IN" sz="1080" b="1" dirty="0">
                <a:ea typeface="Calibri" panose="020F0502020204030204" pitchFamily="34" charset="0"/>
                <a:cs typeface="Calibri" panose="020F0502020204030204" pitchFamily="34" charset="0"/>
              </a:rPr>
              <a:t>• Modular voice architecture extensible with local on-device speech models.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F9A1C1-8455-AD8C-23B7-3D9F228421EE}"/>
              </a:ext>
            </a:extLst>
          </p:cNvPr>
          <p:cNvSpPr txBox="1"/>
          <p:nvPr/>
        </p:nvSpPr>
        <p:spPr>
          <a:xfrm>
            <a:off x="569006" y="1370441"/>
            <a:ext cx="3293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1D4ED8"/>
                </a:solidFill>
              </a:rPr>
              <a:t>❖ </a:t>
            </a:r>
            <a:r>
              <a:rPr lang="en-IN" b="1" dirty="0">
                <a:solidFill>
                  <a:srgbClr val="1D4ED8"/>
                </a:solidFill>
              </a:rPr>
              <a:t>Tools &amp; Multimodal Engine</a:t>
            </a:r>
            <a:endParaRPr lang="en-IN" dirty="0">
              <a:solidFill>
                <a:srgbClr val="1D4ED8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89C7E9-6B01-AAEE-E23F-F1E543679120}"/>
              </a:ext>
            </a:extLst>
          </p:cNvPr>
          <p:cNvSpPr txBox="1"/>
          <p:nvPr/>
        </p:nvSpPr>
        <p:spPr>
          <a:xfrm>
            <a:off x="538249" y="2678781"/>
            <a:ext cx="3293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1D4ED8"/>
                </a:solidFill>
              </a:rPr>
              <a:t>❖ </a:t>
            </a:r>
            <a:r>
              <a:rPr lang="en-IN" b="1" dirty="0">
                <a:solidFill>
                  <a:srgbClr val="1D4ED8"/>
                </a:solidFill>
              </a:rPr>
              <a:t>Frameworks &amp; Local Storage</a:t>
            </a:r>
            <a:endParaRPr lang="en-IN" dirty="0">
              <a:solidFill>
                <a:srgbClr val="1D4ED8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0040" y="1063837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D4ED8"/>
                </a:solidFill>
              </a:defRPr>
            </a:pPr>
            <a:r>
              <a:rPr dirty="0"/>
              <a:t>❖ Feasibility &amp; Deployment: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29597"/>
            <a:ext cx="5303520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lang="en-IN" sz="1200" b="1" dirty="0">
                <a:solidFill>
                  <a:srgbClr val="0F2744"/>
                </a:solidFill>
                <a:latin typeface="Arial"/>
              </a:rPr>
              <a:t>• Hardware Compatibility: 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Runs smoothly on standard school laptops, desktop PCs, Android tablets &amp; Raspberry Pi.</a:t>
            </a:r>
          </a:p>
          <a:p>
            <a:pPr>
              <a:spcAft>
                <a:spcPts val="250"/>
              </a:spcAft>
            </a:pPr>
            <a:r>
              <a:rPr lang="en-IN" sz="1200" b="1" dirty="0">
                <a:solidFill>
                  <a:srgbClr val="0F2744"/>
                </a:solidFill>
                <a:latin typeface="Arial"/>
              </a:rPr>
              <a:t>• Offline-First Operation: 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Language resources and curriculum synchronize once; operates offline during classroom teaching.</a:t>
            </a:r>
          </a:p>
          <a:p>
            <a:pPr>
              <a:spcAft>
                <a:spcPts val="250"/>
              </a:spcAft>
            </a:pPr>
            <a:r>
              <a:rPr lang="en-IN" sz="1200" b="1" dirty="0">
                <a:solidFill>
                  <a:srgbClr val="0F2744"/>
                </a:solidFill>
                <a:latin typeface="Arial"/>
              </a:rPr>
              <a:t>• Extensible Language Packs: 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Modular JSON/SQLite structure allows easy expansion to additional tribal dialects.</a:t>
            </a:r>
          </a:p>
          <a:p>
            <a:pPr>
              <a:spcAft>
                <a:spcPts val="250"/>
              </a:spcAft>
            </a:pPr>
            <a:r>
              <a:rPr lang="en-IN" sz="1200" b="1" dirty="0">
                <a:solidFill>
                  <a:srgbClr val="0F2744"/>
                </a:solidFill>
                <a:latin typeface="Arial"/>
              </a:rPr>
              <a:t>• Low Operational Overhead: </a:t>
            </a:r>
            <a:r>
              <a:rPr lang="en-IN" sz="1200" dirty="0">
                <a:solidFill>
                  <a:srgbClr val="1E293B"/>
                </a:solidFill>
                <a:latin typeface="Arial"/>
              </a:rPr>
              <a:t>Packages models, textbook metadata &amp; UI locally on-device, avoiding recurring cloud bills.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148080"/>
            <a:ext cx="5760720" cy="36576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Key Challenges Identified :-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52542"/>
            <a:ext cx="1828800" cy="1037318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t"/>
          <a:lstStyle/>
          <a:p>
            <a:pPr algn="ctr">
              <a:spcAft>
                <a:spcPts val="200"/>
              </a:spcAft>
              <a:defRPr sz="1150" b="1">
                <a:solidFill>
                  <a:srgbClr val="BE123C"/>
                </a:solidFill>
              </a:defRPr>
            </a:pPr>
            <a:r>
              <a:rPr dirty="0"/>
              <a:t>Scarcity of Tribal Data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lang="en-US" sz="900" dirty="0">
                <a:solidFill>
                  <a:srgbClr val="1E293B"/>
                </a:solidFill>
                <a:latin typeface="Arial"/>
              </a:rPr>
              <a:t>Curated mother-tongue glossaries, verified phrase dictionaries &amp; untranslated status flags</a:t>
            </a:r>
            <a:endParaRPr sz="900" dirty="0"/>
          </a:p>
        </p:txBody>
      </p:sp>
      <p:sp>
        <p:nvSpPr>
          <p:cNvPr id="11" name="Rounded Rectangle 10"/>
          <p:cNvSpPr/>
          <p:nvPr/>
        </p:nvSpPr>
        <p:spPr>
          <a:xfrm>
            <a:off x="8001000" y="1632222"/>
            <a:ext cx="1828800" cy="1057638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t"/>
          <a:lstStyle/>
          <a:p>
            <a:pPr algn="ctr">
              <a:spcAft>
                <a:spcPts val="200"/>
              </a:spcAft>
              <a:defRPr sz="1150" b="1">
                <a:solidFill>
                  <a:srgbClr val="BE123C"/>
                </a:solidFill>
              </a:defRPr>
            </a:pPr>
            <a:r>
              <a:rPr lang="en-US" dirty="0"/>
              <a:t>Limited Internet </a:t>
            </a:r>
            <a:endParaRPr lang="en-US" sz="1200" b="1" dirty="0">
              <a:solidFill>
                <a:srgbClr val="0F2744"/>
              </a:solidFill>
              <a:latin typeface="Arial"/>
            </a:endParaRPr>
          </a:p>
          <a:p>
            <a:pPr algn="ctr">
              <a:spcAft>
                <a:spcPts val="200"/>
              </a:spcAft>
              <a:defRPr sz="1150" b="1">
                <a:solidFill>
                  <a:srgbClr val="BE123C"/>
                </a:solidFill>
              </a:defRPr>
            </a:pPr>
            <a:r>
              <a:rPr lang="en-US" sz="800" dirty="0">
                <a:solidFill>
                  <a:srgbClr val="1E293B"/>
                </a:solidFill>
                <a:latin typeface="Arial"/>
              </a:rPr>
              <a:t>Offline-first SQLite WAL architecture + on-device asset caching (no continuous internet dependency for supported offline workflows)</a:t>
            </a:r>
            <a:endParaRPr sz="800" dirty="0"/>
          </a:p>
        </p:txBody>
      </p:sp>
      <p:sp>
        <p:nvSpPr>
          <p:cNvPr id="12" name="Rounded Rectangle 11"/>
          <p:cNvSpPr/>
          <p:nvPr/>
        </p:nvSpPr>
        <p:spPr>
          <a:xfrm>
            <a:off x="9966960" y="1605732"/>
            <a:ext cx="1828800" cy="1084128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t"/>
          <a:lstStyle/>
          <a:p>
            <a:pPr algn="ctr">
              <a:spcAft>
                <a:spcPts val="200"/>
              </a:spcAft>
              <a:defRPr sz="1150" b="1">
                <a:solidFill>
                  <a:srgbClr val="BE123C"/>
                </a:solidFill>
              </a:defRPr>
            </a:pPr>
            <a:r>
              <a:rPr dirty="0"/>
              <a:t>Regional </a:t>
            </a:r>
            <a:r>
              <a:rPr lang="en-US" dirty="0"/>
              <a:t>Dialect </a:t>
            </a:r>
            <a:r>
              <a:rPr dirty="0"/>
              <a:t>Variations</a:t>
            </a:r>
          </a:p>
          <a:p>
            <a:pPr algn="ctr">
              <a:defRPr sz="950" b="1">
                <a:solidFill>
                  <a:srgbClr val="0F172A"/>
                </a:solidFill>
              </a:defRPr>
            </a:pPr>
            <a:r>
              <a:rPr lang="en-US" sz="900" dirty="0">
                <a:solidFill>
                  <a:srgbClr val="1E293B"/>
                </a:solidFill>
                <a:latin typeface="Arial"/>
              </a:rPr>
              <a:t>Community validation layer allowing local teachers &amp; elders to verify regional terms</a:t>
            </a:r>
            <a:endParaRPr sz="900" dirty="0"/>
          </a:p>
        </p:txBody>
      </p:sp>
      <p:sp>
        <p:nvSpPr>
          <p:cNvPr id="15" name="Rounded Rectangle 14"/>
          <p:cNvSpPr/>
          <p:nvPr/>
        </p:nvSpPr>
        <p:spPr>
          <a:xfrm>
            <a:off x="8092440" y="4046220"/>
            <a:ext cx="3703320" cy="658368"/>
          </a:xfrm>
          <a:prstGeom prst="roundRect">
            <a:avLst/>
          </a:prstGeom>
          <a:solidFill>
            <a:schemeClr val="bg2"/>
          </a:solidFill>
          <a:ln w="2540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4532D"/>
                </a:solidFill>
              </a:defRPr>
            </a:pPr>
            <a:r>
              <a:rPr dirty="0"/>
              <a:t>Phase </a:t>
            </a:r>
            <a:r>
              <a:rPr lang="en-US" dirty="0"/>
              <a:t>2</a:t>
            </a:r>
            <a:r>
              <a:rPr dirty="0"/>
              <a:t>: </a:t>
            </a:r>
            <a:r>
              <a:rPr lang="en-IN" sz="1100" b="1" dirty="0">
                <a:solidFill>
                  <a:srgbClr val="0F2744"/>
                </a:solidFill>
                <a:latin typeface="Arial"/>
              </a:rPr>
              <a:t>Language Validation &amp; Expansion  </a:t>
            </a:r>
          </a:p>
          <a:p>
            <a:pPr>
              <a:spcAft>
                <a:spcPts val="200"/>
              </a:spcAft>
            </a:pPr>
            <a:r>
              <a:rPr lang="en-US" sz="900" b="1" dirty="0">
                <a:solidFill>
                  <a:srgbClr val="1E293B"/>
                </a:solidFill>
                <a:latin typeface="Arial"/>
              </a:rPr>
              <a:t>Community validation workflows, expanded phrase dictionaries, speech playback extension.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808220"/>
            <a:ext cx="3703320" cy="658368"/>
          </a:xfrm>
          <a:prstGeom prst="roundRect">
            <a:avLst/>
          </a:prstGeom>
          <a:solidFill>
            <a:srgbClr val="FEF08A"/>
          </a:solidFill>
          <a:ln w="2540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A16207"/>
                </a:solidFill>
              </a:defRPr>
            </a:pPr>
            <a:r>
              <a:rPr dirty="0"/>
              <a:t>Phase </a:t>
            </a:r>
            <a:r>
              <a:rPr lang="en-US" dirty="0"/>
              <a:t>3</a:t>
            </a:r>
            <a:r>
              <a:rPr dirty="0"/>
              <a:t>: </a:t>
            </a:r>
            <a:r>
              <a:rPr lang="en-IN" sz="1100" b="1" dirty="0">
                <a:solidFill>
                  <a:srgbClr val="A16207"/>
                </a:solidFill>
                <a:latin typeface="Arial"/>
              </a:rPr>
              <a:t>Classroom Field Pilot </a:t>
            </a:r>
            <a:endParaRPr dirty="0">
              <a:solidFill>
                <a:srgbClr val="A16207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900" b="1" dirty="0">
                <a:solidFill>
                  <a:srgbClr val="1E293B"/>
                </a:solidFill>
                <a:latin typeface="Arial"/>
              </a:rPr>
              <a:t>Teacher usability trials across rural tribal schools; measuring latency &amp; adoption.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5577840"/>
            <a:ext cx="3703320" cy="658368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rPr dirty="0"/>
              <a:t>Phase </a:t>
            </a:r>
            <a:r>
              <a:rPr lang="en-US" dirty="0"/>
              <a:t>4</a:t>
            </a:r>
            <a:r>
              <a:rPr dirty="0"/>
              <a:t>: </a:t>
            </a:r>
            <a:r>
              <a:rPr lang="en-IN" sz="1100" b="1" dirty="0">
                <a:solidFill>
                  <a:srgbClr val="1D4ED8"/>
                </a:solidFill>
                <a:latin typeface="Arial"/>
              </a:rPr>
              <a:t>State &amp; National Scale </a:t>
            </a:r>
          </a:p>
          <a:p>
            <a:pPr algn="ctr">
              <a:defRPr sz="1100" b="1">
                <a:solidFill>
                  <a:srgbClr val="1D4ED8"/>
                </a:solidFill>
              </a:defRPr>
            </a:pPr>
            <a:r>
              <a:rPr lang="en-IN" sz="900" dirty="0">
                <a:solidFill>
                  <a:srgbClr val="1D4ED8"/>
                </a:solidFill>
                <a:latin typeface="Arial"/>
              </a:rPr>
              <a:t>Multi-state curriculum ingestion; integration with DIKSHA &amp; NIPUN Bharat.</a:t>
            </a:r>
            <a:endParaRPr sz="900" dirty="0">
              <a:solidFill>
                <a:srgbClr val="1D4ED8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FDE71C-7561-E42D-3BC6-CC33FA1DC1C1}"/>
              </a:ext>
            </a:extLst>
          </p:cNvPr>
          <p:cNvSpPr/>
          <p:nvPr/>
        </p:nvSpPr>
        <p:spPr>
          <a:xfrm>
            <a:off x="320040" y="186976"/>
            <a:ext cx="1323717" cy="82742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B426F"/>
                </a:solidFill>
                <a:latin typeface="Aptos"/>
              </a:rPr>
              <a:t>PROBLEM SOLVERS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E34EF49-DB63-BE93-3733-D08037307466}"/>
              </a:ext>
            </a:extLst>
          </p:cNvPr>
          <p:cNvSpPr txBox="1">
            <a:spLocks/>
          </p:cNvSpPr>
          <p:nvPr/>
        </p:nvSpPr>
        <p:spPr>
          <a:xfrm>
            <a:off x="558275" y="223569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22378F7-5A98-4788-B648-A84496D0D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9B0719B-148C-71EF-4BA6-2E85858D0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6" name="Footer Placeholder 6">
            <a:extLst>
              <a:ext uri="{FF2B5EF4-FFF2-40B4-BE49-F238E27FC236}">
                <a16:creationId xmlns:a16="http://schemas.microsoft.com/office/drawing/2014/main" id="{EF82E9CC-D609-81E2-9BA9-B8EC75522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C9B68D85-6796-72BD-73B2-05F22A78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0750" y="636792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0C5A8B7B-C6A0-5E1F-5850-C14B3F66BAA8}"/>
              </a:ext>
            </a:extLst>
          </p:cNvPr>
          <p:cNvSpPr/>
          <p:nvPr/>
        </p:nvSpPr>
        <p:spPr>
          <a:xfrm>
            <a:off x="8092440" y="3276600"/>
            <a:ext cx="3703320" cy="658368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4532D"/>
                </a:solidFill>
              </a:defRPr>
            </a:pPr>
            <a:r>
              <a:rPr dirty="0"/>
              <a:t>Phase 1: </a:t>
            </a:r>
            <a:r>
              <a:rPr lang="en-IN" sz="1100" b="1" dirty="0">
                <a:solidFill>
                  <a:srgbClr val="0F2744"/>
                </a:solidFill>
                <a:latin typeface="Arial"/>
              </a:rPr>
              <a:t>Working Prototype</a:t>
            </a:r>
            <a:r>
              <a:rPr lang="en-US" sz="1100" b="1" dirty="0">
                <a:solidFill>
                  <a:srgbClr val="0F2744"/>
                </a:solidFill>
                <a:latin typeface="Arial"/>
              </a:rPr>
              <a:t> </a:t>
            </a:r>
            <a:endParaRPr lang="en-US" dirty="0"/>
          </a:p>
          <a:p>
            <a:pPr>
              <a:spcAft>
                <a:spcPts val="200"/>
              </a:spcAft>
            </a:pPr>
            <a:r>
              <a:rPr lang="en-US" sz="850" b="1" dirty="0">
                <a:solidFill>
                  <a:srgbClr val="1E293B"/>
                </a:solidFill>
                <a:latin typeface="Arial"/>
              </a:rPr>
              <a:t>React + </a:t>
            </a:r>
            <a:r>
              <a:rPr lang="en-US" sz="850" b="1" dirty="0" err="1">
                <a:solidFill>
                  <a:srgbClr val="1E293B"/>
                </a:solidFill>
                <a:latin typeface="Arial"/>
              </a:rPr>
              <a:t>FastAPI</a:t>
            </a:r>
            <a:r>
              <a:rPr lang="en-US" sz="850" b="1" dirty="0">
                <a:solidFill>
                  <a:srgbClr val="1E293B"/>
                </a:solidFill>
                <a:latin typeface="Arial"/>
              </a:rPr>
              <a:t> app, local SQLite WAL, 5 tribal packs, NCERT/JCERT ingested.</a:t>
            </a:r>
          </a:p>
        </p:txBody>
      </p:sp>
      <p:pic>
        <p:nvPicPr>
          <p:cNvPr id="39" name="Picture 38" descr="s4_strategy_bulb_clean.png">
            <a:extLst>
              <a:ext uri="{FF2B5EF4-FFF2-40B4-BE49-F238E27FC236}">
                <a16:creationId xmlns:a16="http://schemas.microsoft.com/office/drawing/2014/main" id="{4B8D451F-EAEE-A8A3-B64E-AEFC9D099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3406140"/>
            <a:ext cx="1920240" cy="2468880"/>
          </a:xfrm>
          <a:prstGeom prst="rect">
            <a:avLst/>
          </a:prstGeom>
        </p:spPr>
      </p:pic>
      <p:pic>
        <p:nvPicPr>
          <p:cNvPr id="41" name="Picture 40" descr="s4_mindmap_clean.png">
            <a:extLst>
              <a:ext uri="{FF2B5EF4-FFF2-40B4-BE49-F238E27FC236}">
                <a16:creationId xmlns:a16="http://schemas.microsoft.com/office/drawing/2014/main" id="{C1FFBA0E-AC20-49C1-E5DD-105942391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14674"/>
            <a:ext cx="534924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875520" y="1097280"/>
            <a:ext cx="1965960" cy="9601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4532D"/>
                </a:solidFill>
              </a:defRPr>
            </a:pPr>
            <a:r>
              <a:rPr dirty="0"/>
              <a:t>🎓 Students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dirty="0"/>
              <a:t>Mother-tongue comprehension</a:t>
            </a:r>
            <a:endParaRPr lang="en-US" dirty="0"/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lang="en-IN" sz="900" dirty="0"/>
              <a:t>Contextual FLN classroom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2148840"/>
            <a:ext cx="1965960" cy="96012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C2410C"/>
                </a:solidFill>
              </a:defRPr>
            </a:pPr>
            <a:r>
              <a:rPr dirty="0"/>
              <a:t>👩‍🏫 Teachers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dirty="0"/>
              <a:t>14-</a:t>
            </a:r>
            <a:r>
              <a:rPr lang="en-US" dirty="0"/>
              <a:t>Point Bilingual Lessons</a:t>
            </a:r>
            <a:r>
              <a:rPr dirty="0"/>
              <a:t> plans</a:t>
            </a:r>
            <a:endParaRPr lang="en-US" dirty="0"/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lang="en-IN" sz="900" dirty="0"/>
              <a:t>Instant classroom voice 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3200400"/>
            <a:ext cx="1965960" cy="960120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BE123C"/>
                </a:solidFill>
              </a:defRPr>
            </a:pPr>
            <a:r>
              <a:rPr dirty="0"/>
              <a:t>🏫 Schools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rPr lang="en-US" dirty="0"/>
              <a:t>Curriculum &amp;NEP 2020 Alignment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4251960"/>
            <a:ext cx="1965960" cy="9601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D4ED8"/>
                </a:solidFill>
              </a:defRPr>
            </a:pPr>
            <a:r>
              <a:rPr dirty="0"/>
              <a:t>🤝 Culture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dirty="0"/>
              <a:t>Preservation of tribal scripts</a:t>
            </a:r>
            <a:endParaRPr lang="en-US" dirty="0"/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lang="it-IT" sz="900" dirty="0"/>
              <a:t>Native Ol Chiki Unicode (U+1C50)</a:t>
            </a:r>
            <a:r>
              <a:rPr sz="900" dirty="0"/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5303520"/>
            <a:ext cx="1965960" cy="960120"/>
          </a:xfrm>
          <a:prstGeom prst="roundRect">
            <a:avLst/>
          </a:prstGeom>
          <a:solidFill>
            <a:srgbClr val="FAF5FF"/>
          </a:solidFill>
          <a:ln w="2540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7E22CE"/>
                </a:solidFill>
              </a:defRPr>
            </a:pPr>
            <a:r>
              <a:rPr dirty="0"/>
              <a:t>📈 Scalability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lang="en-US" dirty="0"/>
              <a:t>O</a:t>
            </a:r>
            <a:r>
              <a:rPr dirty="0"/>
              <a:t>ffline</a:t>
            </a:r>
            <a:r>
              <a:rPr lang="en-US" dirty="0"/>
              <a:t>-First</a:t>
            </a:r>
            <a:r>
              <a:rPr dirty="0"/>
              <a:t> </a:t>
            </a:r>
            <a:r>
              <a:rPr lang="en-US" dirty="0"/>
              <a:t>Modular Packs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lang="en-IN" sz="900" dirty="0"/>
              <a:t>Extensible across state curricular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11EBDE-0502-BE16-90BE-4269CD84EA4B}"/>
              </a:ext>
            </a:extLst>
          </p:cNvPr>
          <p:cNvSpPr/>
          <p:nvPr/>
        </p:nvSpPr>
        <p:spPr>
          <a:xfrm>
            <a:off x="320040" y="181460"/>
            <a:ext cx="1323717" cy="82742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B426F"/>
                </a:solidFill>
                <a:latin typeface="Aptos"/>
              </a:rPr>
              <a:t>PROBLEM SOLVERS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EA94C1-009E-4FD6-3E98-394B4AFAB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9" name="Footer Placeholder 6">
            <a:extLst>
              <a:ext uri="{FF2B5EF4-FFF2-40B4-BE49-F238E27FC236}">
                <a16:creationId xmlns:a16="http://schemas.microsoft.com/office/drawing/2014/main" id="{BBB6630C-9585-76AB-5E0F-E700579E2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50437C77-11C8-C6D3-EDBD-48ED0AED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419B0AD-8B3E-F98C-3704-F69AE4469888}"/>
              </a:ext>
            </a:extLst>
          </p:cNvPr>
          <p:cNvSpPr txBox="1">
            <a:spLocks/>
          </p:cNvSpPr>
          <p:nvPr/>
        </p:nvSpPr>
        <p:spPr>
          <a:xfrm>
            <a:off x="510294" y="173273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E431F6C-941B-0156-874B-7C1EA4B7E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D08CE205-CC3C-3ECA-8215-B5173DAF2995}"/>
              </a:ext>
            </a:extLst>
          </p:cNvPr>
          <p:cNvSpPr/>
          <p:nvPr/>
        </p:nvSpPr>
        <p:spPr>
          <a:xfrm>
            <a:off x="599440" y="1323470"/>
            <a:ext cx="5232400" cy="4399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t"/>
          <a:lstStyle/>
          <a:p>
            <a:pPr algn="ctr">
              <a:spcAft>
                <a:spcPts val="800"/>
              </a:spcAft>
              <a:defRPr sz="2000" b="1">
                <a:solidFill>
                  <a:srgbClr val="0F172A"/>
                </a:solidFill>
              </a:defRPr>
            </a:pPr>
            <a:r>
              <a:rPr lang="en-IN" dirty="0"/>
              <a:t>Impact &amp; Benefits Breakdown</a:t>
            </a:r>
          </a:p>
          <a:p>
            <a:pPr algn="l">
              <a:spcAft>
                <a:spcPts val="150"/>
              </a:spcAft>
            </a:pPr>
            <a:r>
              <a:rPr sz="1200" b="1" dirty="0">
                <a:solidFill>
                  <a:srgbClr val="0F2744"/>
                </a:solidFill>
                <a:latin typeface="Arial"/>
              </a:rPr>
              <a:t>❖  Students </a:t>
            </a:r>
            <a:r>
              <a:rPr sz="1200" b="1" dirty="0">
                <a:solidFill>
                  <a:srgbClr val="059669"/>
                </a:solidFill>
                <a:latin typeface="Arial"/>
              </a:rPr>
              <a:t>— Mother-Tongue Comprehension &amp; FLN</a:t>
            </a:r>
            <a:r>
              <a:rPr sz="880" b="1" dirty="0">
                <a:solidFill>
                  <a:srgbClr val="059669"/>
                </a:solidFill>
                <a:latin typeface="Arial"/>
              </a:rPr>
              <a:t>
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dirty="0"/>
              <a:t>   </a:t>
            </a:r>
            <a:r>
              <a:rPr sz="1000" dirty="0"/>
              <a:t>• Mother-tongue explanations and contextual FLN practice.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sz="1000" dirty="0"/>
              <a:t>   • Connects foundational concepts to familiar village realia (seeds, clay).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sz="1000" dirty="0"/>
              <a:t>   • Designed to encourage classroom participation and oral-language practice.</a:t>
            </a:r>
          </a:p>
          <a:p>
            <a:pPr algn="l">
              <a:spcAft>
                <a:spcPts val="150"/>
              </a:spcAft>
            </a:pPr>
            <a:r>
              <a:rPr sz="1200" b="1" dirty="0">
                <a:solidFill>
                  <a:srgbClr val="0F2744"/>
                </a:solidFill>
                <a:latin typeface="Arial"/>
              </a:rPr>
              <a:t>❖  Teachers </a:t>
            </a:r>
            <a:r>
              <a:rPr sz="1200" b="1" dirty="0">
                <a:solidFill>
                  <a:srgbClr val="059669"/>
                </a:solidFill>
                <a:latin typeface="Arial"/>
              </a:rPr>
              <a:t>— Reduced Preparation Friction &amp; TLM</a:t>
            </a:r>
            <a:r>
              <a:rPr sz="880" b="1" dirty="0">
                <a:solidFill>
                  <a:srgbClr val="059669"/>
                </a:solidFill>
                <a:latin typeface="Arial"/>
              </a:rPr>
              <a:t>
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dirty="0"/>
              <a:t>   </a:t>
            </a:r>
            <a:r>
              <a:rPr sz="1000" dirty="0"/>
              <a:t>• Reduces repetitive manual lesson adaptation and prep time.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sz="1000" dirty="0"/>
              <a:t>   • Direct access to official textbook hints (</a:t>
            </a:r>
            <a:r>
              <a:rPr sz="1000" dirty="0" err="1"/>
              <a:t>शिक्षण-संकेत</a:t>
            </a:r>
            <a:r>
              <a:rPr sz="1000" dirty="0"/>
              <a:t>).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sz="1000" dirty="0"/>
              <a:t>   • Ready-to-print bilingual A4 activity worksheets for classroom use.</a:t>
            </a:r>
          </a:p>
          <a:p>
            <a:pPr algn="l">
              <a:spcAft>
                <a:spcPts val="150"/>
              </a:spcAft>
            </a:pPr>
            <a:r>
              <a:rPr sz="1200" b="1" dirty="0">
                <a:solidFill>
                  <a:srgbClr val="0F2744"/>
                </a:solidFill>
                <a:latin typeface="Arial"/>
              </a:rPr>
              <a:t>❖  Community </a:t>
            </a:r>
            <a:r>
              <a:rPr sz="1200" b="1" dirty="0">
                <a:solidFill>
                  <a:srgbClr val="059669"/>
                </a:solidFill>
                <a:latin typeface="Arial"/>
              </a:rPr>
              <a:t>— Preservation &amp; Resource Validation</a:t>
            </a:r>
            <a:r>
              <a:rPr sz="880" b="1" dirty="0">
                <a:solidFill>
                  <a:srgbClr val="059669"/>
                </a:solidFill>
                <a:latin typeface="Arial"/>
              </a:rPr>
              <a:t>
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sz="1000" dirty="0"/>
              <a:t>   • Structured pathway for local-language resource validation.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sz="1000" dirty="0"/>
              <a:t>   • Connects home language with school learning for tribal families.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sz="1000" dirty="0"/>
              <a:t>   • Promotes indigenous scripts like Ol Chiki (ISO/IEC 10646).</a:t>
            </a:r>
          </a:p>
          <a:p>
            <a:pPr algn="l">
              <a:spcAft>
                <a:spcPts val="150"/>
              </a:spcAft>
            </a:pPr>
            <a:r>
              <a:rPr sz="1200" b="1" dirty="0">
                <a:solidFill>
                  <a:srgbClr val="0F2744"/>
                </a:solidFill>
                <a:latin typeface="Arial"/>
              </a:rPr>
              <a:t>❖  Schools &amp; Governance </a:t>
            </a:r>
            <a:r>
              <a:rPr sz="1200" b="1" dirty="0">
                <a:solidFill>
                  <a:srgbClr val="059669"/>
                </a:solidFill>
                <a:latin typeface="Arial"/>
              </a:rPr>
              <a:t>— Curriculum Alignment &amp; Policy</a:t>
            </a:r>
            <a:r>
              <a:rPr sz="880" b="1" dirty="0">
                <a:solidFill>
                  <a:srgbClr val="059669"/>
                </a:solidFill>
                <a:latin typeface="Arial"/>
              </a:rPr>
              <a:t>
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dirty="0"/>
              <a:t>   </a:t>
            </a:r>
            <a:r>
              <a:rPr sz="1000" dirty="0"/>
              <a:t>• Curriculum-aligned digital learning with offline-first support.</a:t>
            </a:r>
          </a:p>
          <a:p>
            <a:pPr algn="l">
              <a:spcAft>
                <a:spcPts val="150"/>
              </a:spcAft>
              <a:defRPr sz="840">
                <a:solidFill>
                  <a:srgbClr val="1E293B"/>
                </a:solidFill>
                <a:latin typeface="Arial"/>
              </a:defRPr>
            </a:pPr>
            <a:r>
              <a:rPr sz="1000" dirty="0"/>
              <a:t>   • Direct policy alignment with NEP 2020 (Clause 4.11) &amp; NIPUN Bharat.</a:t>
            </a:r>
          </a:p>
        </p:txBody>
      </p:sp>
      <p:pic>
        <p:nvPicPr>
          <p:cNvPr id="17" name="Picture 16" descr="s5_star_wheel_clean.png">
            <a:extLst>
              <a:ext uri="{FF2B5EF4-FFF2-40B4-BE49-F238E27FC236}">
                <a16:creationId xmlns:a16="http://schemas.microsoft.com/office/drawing/2014/main" id="{2F0CFAC4-3746-BFCD-6A91-653D1C018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0" y="1351833"/>
            <a:ext cx="2934760" cy="44836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EB1BE3FA-ED94-B188-E8E1-FF180B0F2DB1}"/>
              </a:ext>
            </a:extLst>
          </p:cNvPr>
          <p:cNvSpPr/>
          <p:nvPr/>
        </p:nvSpPr>
        <p:spPr>
          <a:xfrm>
            <a:off x="320040" y="1481304"/>
            <a:ext cx="4511040" cy="4553712"/>
          </a:xfrm>
          <a:prstGeom prst="roundRect">
            <a:avLst>
              <a:gd name="adj" fmla="val 157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64592" tIns="109728" rIns="164592" rtlCol="0" anchor="t"/>
          <a:lstStyle/>
          <a:p>
            <a:pPr algn="l">
              <a:spcAft>
                <a:spcPts val="350"/>
              </a:spcAft>
            </a:pPr>
            <a:endParaRPr lang="en-US" sz="1200" b="1" dirty="0">
              <a:solidFill>
                <a:srgbClr val="1D4ED8"/>
              </a:solidFill>
              <a:latin typeface="Arial"/>
            </a:endParaRPr>
          </a:p>
          <a:p>
            <a:pPr algn="l">
              <a:spcAft>
                <a:spcPts val="350"/>
              </a:spcAft>
            </a:pPr>
            <a:r>
              <a:rPr sz="1200" b="1" dirty="0">
                <a:solidFill>
                  <a:srgbClr val="1D4ED8"/>
                </a:solidFill>
                <a:latin typeface="Arial"/>
              </a:rPr>
              <a:t>•  NEP 2020 (Ministry of Education):</a:t>
            </a:r>
            <a:r>
              <a:rPr sz="919" b="1" dirty="0">
                <a:solidFill>
                  <a:srgbClr val="0F2744"/>
                </a:solidFill>
                <a:latin typeface="Arial"/>
              </a:rPr>
              <a:t>
</a:t>
            </a:r>
            <a:r>
              <a:rPr sz="1000" dirty="0">
                <a:solidFill>
                  <a:srgbClr val="1E293B"/>
                </a:solidFill>
                <a:latin typeface="Arial"/>
              </a:rPr>
              <a:t>   Clause 4.11–4.13 mandates mother tongue / local language as medium of instruction in foundational grades wherever possible.</a:t>
            </a:r>
            <a:endParaRPr lang="en-US" sz="1000" dirty="0">
              <a:solidFill>
                <a:srgbClr val="1E293B"/>
              </a:solidFill>
              <a:latin typeface="Arial"/>
            </a:endParaRPr>
          </a:p>
          <a:p>
            <a:pPr algn="l">
              <a:spcAft>
                <a:spcPts val="350"/>
              </a:spcAft>
            </a:pPr>
            <a:endParaRPr sz="1000" dirty="0">
              <a:solidFill>
                <a:srgbClr val="1E293B"/>
              </a:solidFill>
              <a:latin typeface="Arial"/>
            </a:endParaRPr>
          </a:p>
          <a:p>
            <a:pPr algn="l">
              <a:spcAft>
                <a:spcPts val="350"/>
              </a:spcAft>
            </a:pPr>
            <a:r>
              <a:rPr sz="1200" b="1" dirty="0">
                <a:solidFill>
                  <a:srgbClr val="1D4ED8"/>
                </a:solidFill>
                <a:latin typeface="Arial"/>
              </a:rPr>
              <a:t>•  NIPUN Bharat Mission Guidelines:</a:t>
            </a:r>
            <a:r>
              <a:rPr sz="919" b="1" dirty="0">
                <a:solidFill>
                  <a:srgbClr val="0F2744"/>
                </a:solidFill>
                <a:latin typeface="Arial"/>
              </a:rPr>
              <a:t>
</a:t>
            </a:r>
            <a:r>
              <a:rPr sz="840" dirty="0">
                <a:solidFill>
                  <a:srgbClr val="1E293B"/>
                </a:solidFill>
                <a:latin typeface="Arial"/>
              </a:rPr>
              <a:t>   </a:t>
            </a:r>
            <a:r>
              <a:rPr sz="1000" dirty="0">
                <a:solidFill>
                  <a:srgbClr val="1E293B"/>
                </a:solidFill>
                <a:latin typeface="Arial"/>
              </a:rPr>
              <a:t>National mission for foundational literacy &amp; numeracy (FLN) by Grade 3 with contextualized TLM and multilingual learning.</a:t>
            </a:r>
            <a:endParaRPr lang="en-US" sz="1000" dirty="0">
              <a:solidFill>
                <a:srgbClr val="1E293B"/>
              </a:solidFill>
              <a:latin typeface="Arial"/>
            </a:endParaRPr>
          </a:p>
          <a:p>
            <a:pPr algn="l">
              <a:spcAft>
                <a:spcPts val="350"/>
              </a:spcAft>
            </a:pPr>
            <a:endParaRPr sz="1000" dirty="0">
              <a:solidFill>
                <a:srgbClr val="1E293B"/>
              </a:solidFill>
              <a:latin typeface="Arial"/>
            </a:endParaRPr>
          </a:p>
          <a:p>
            <a:pPr algn="l">
              <a:spcAft>
                <a:spcPts val="350"/>
              </a:spcAft>
            </a:pPr>
            <a:r>
              <a:rPr sz="1200" b="1" dirty="0">
                <a:solidFill>
                  <a:srgbClr val="1D4ED8"/>
                </a:solidFill>
                <a:latin typeface="Arial"/>
              </a:rPr>
              <a:t>•  Jharkhand PALASH / MTB-MLE Framework:</a:t>
            </a:r>
            <a:r>
              <a:rPr sz="919" b="1" dirty="0">
                <a:solidFill>
                  <a:srgbClr val="0F2744"/>
                </a:solidFill>
                <a:latin typeface="Arial"/>
              </a:rPr>
              <a:t>
</a:t>
            </a:r>
            <a:r>
              <a:rPr sz="1000" dirty="0">
                <a:solidFill>
                  <a:srgbClr val="1E293B"/>
                </a:solidFill>
                <a:latin typeface="Arial"/>
              </a:rPr>
              <a:t>   Government initiative across primary schools supporting 5 tribal languages (</a:t>
            </a:r>
            <a:r>
              <a:rPr sz="1000" dirty="0" err="1">
                <a:solidFill>
                  <a:srgbClr val="1E293B"/>
                </a:solidFill>
                <a:latin typeface="Arial"/>
              </a:rPr>
              <a:t>Santhali</a:t>
            </a:r>
            <a:r>
              <a:rPr sz="1000" dirty="0">
                <a:solidFill>
                  <a:srgbClr val="1E293B"/>
                </a:solidFill>
                <a:latin typeface="Arial"/>
              </a:rPr>
              <a:t>, Mundari, Ho, Kurukh, Kharia).</a:t>
            </a:r>
            <a:endParaRPr lang="en-US" sz="1000" dirty="0">
              <a:solidFill>
                <a:srgbClr val="1E293B"/>
              </a:solidFill>
              <a:latin typeface="Arial"/>
            </a:endParaRPr>
          </a:p>
          <a:p>
            <a:pPr algn="l">
              <a:spcAft>
                <a:spcPts val="350"/>
              </a:spcAft>
            </a:pPr>
            <a:endParaRPr sz="1000" dirty="0">
              <a:solidFill>
                <a:srgbClr val="1E293B"/>
              </a:solidFill>
              <a:latin typeface="Arial"/>
            </a:endParaRPr>
          </a:p>
          <a:p>
            <a:pPr algn="l">
              <a:spcAft>
                <a:spcPts val="350"/>
              </a:spcAft>
            </a:pPr>
            <a:r>
              <a:rPr sz="1200" b="1" dirty="0">
                <a:solidFill>
                  <a:srgbClr val="1D4ED8"/>
                </a:solidFill>
                <a:latin typeface="Arial"/>
              </a:rPr>
              <a:t>•  UNESCO &amp; State of Education Report 2025:</a:t>
            </a:r>
            <a:r>
              <a:rPr sz="919" b="1" dirty="0">
                <a:solidFill>
                  <a:srgbClr val="0F2744"/>
                </a:solidFill>
                <a:latin typeface="Arial"/>
              </a:rPr>
              <a:t>
</a:t>
            </a:r>
            <a:r>
              <a:rPr sz="840" dirty="0">
                <a:solidFill>
                  <a:srgbClr val="1E293B"/>
                </a:solidFill>
                <a:latin typeface="Arial"/>
              </a:rPr>
              <a:t>   </a:t>
            </a:r>
            <a:r>
              <a:rPr sz="1000" dirty="0">
                <a:solidFill>
                  <a:srgbClr val="1E293B"/>
                </a:solidFill>
                <a:latin typeface="Arial"/>
              </a:rPr>
              <a:t>Highlights mother tongue-based multilingual education (MTB-MLE) research, UNESCO Bhasha Matters, and Jharkhand primary multilingual education context.</a:t>
            </a:r>
            <a:endParaRPr lang="en-US" sz="1000" dirty="0">
              <a:solidFill>
                <a:srgbClr val="1E293B"/>
              </a:solidFill>
              <a:latin typeface="Arial"/>
            </a:endParaRPr>
          </a:p>
          <a:p>
            <a:pPr algn="l">
              <a:spcAft>
                <a:spcPts val="350"/>
              </a:spcAft>
            </a:pPr>
            <a:endParaRPr sz="1000" dirty="0">
              <a:solidFill>
                <a:srgbClr val="1E293B"/>
              </a:solidFill>
              <a:latin typeface="Arial"/>
            </a:endParaRPr>
          </a:p>
          <a:p>
            <a:pPr algn="l">
              <a:spcAft>
                <a:spcPts val="350"/>
              </a:spcAft>
            </a:pPr>
            <a:r>
              <a:rPr sz="1200" b="1" dirty="0">
                <a:solidFill>
                  <a:srgbClr val="1D4ED8"/>
                </a:solidFill>
                <a:latin typeface="Arial"/>
              </a:rPr>
              <a:t>•  Open Tech Standards &amp; Tools:</a:t>
            </a:r>
            <a:r>
              <a:rPr sz="919" b="1" dirty="0">
                <a:solidFill>
                  <a:srgbClr val="0F2744"/>
                </a:solidFill>
                <a:latin typeface="Arial"/>
              </a:rPr>
              <a:t>
</a:t>
            </a:r>
            <a:r>
              <a:rPr sz="1000" dirty="0">
                <a:solidFill>
                  <a:srgbClr val="1E293B"/>
                </a:solidFill>
                <a:latin typeface="Arial"/>
              </a:rPr>
              <a:t>   </a:t>
            </a:r>
            <a:r>
              <a:rPr sz="1000" dirty="0" err="1">
                <a:solidFill>
                  <a:srgbClr val="1E293B"/>
                </a:solidFill>
                <a:latin typeface="Arial"/>
              </a:rPr>
              <a:t>FastAPI</a:t>
            </a:r>
            <a:r>
              <a:rPr sz="1000" dirty="0">
                <a:solidFill>
                  <a:srgbClr val="1E293B"/>
                </a:solidFill>
                <a:latin typeface="Arial"/>
              </a:rPr>
              <a:t>, SQLite3 (WAL mode), React 19, </a:t>
            </a:r>
            <a:r>
              <a:rPr sz="1000" dirty="0" err="1">
                <a:solidFill>
                  <a:srgbClr val="1E293B"/>
                </a:solidFill>
                <a:latin typeface="Arial"/>
              </a:rPr>
              <a:t>PyMuPDF</a:t>
            </a:r>
            <a:r>
              <a:rPr sz="1000" dirty="0">
                <a:solidFill>
                  <a:srgbClr val="1E293B"/>
                </a:solidFill>
                <a:latin typeface="Arial"/>
              </a:rPr>
              <a:t>, </a:t>
            </a:r>
            <a:r>
              <a:rPr sz="1000" dirty="0" err="1">
                <a:solidFill>
                  <a:srgbClr val="1E293B"/>
                </a:solidFill>
                <a:latin typeface="Arial"/>
              </a:rPr>
              <a:t>ReportLab</a:t>
            </a:r>
            <a:r>
              <a:rPr sz="1000" dirty="0">
                <a:solidFill>
                  <a:srgbClr val="1E293B"/>
                </a:solidFill>
                <a:latin typeface="Arial"/>
              </a:rPr>
              <a:t>, ISO/IEC 10646 (Ol Chiki Unicode U+1C50–U+1C7F).</a:t>
            </a:r>
          </a:p>
          <a:p/>
          <a:p>
            <a:r>
              <a:rPr sz="1100" b="1">
                <a:solidFill>
                  <a:srgbClr val="1D4ED8"/>
                </a:solidFill>
              </a:rPr>
              <a:t>•  Live Project Prototype &amp; Video Demo Links:
</a:t>
            </a:r>
            <a:r>
              <a:rPr sz="950" b="1">
                <a:solidFill>
                  <a:srgbClr val="0F766E"/>
                </a:solidFill>
              </a:rPr>
              <a:t>   🚀 Live App (Vercel): </a:t>
            </a:r>
            <a:r>
              <a:rPr sz="950" b="1" u="sng">
                <a:solidFill>
                  <a:srgbClr val="2563EB"/>
                </a:solidFill>
                <a:hlinkClick r:id="rId3"/>
              </a:rPr>
              <a:t>smart-india-hackathon-two.vercel.app
</a:t>
            </a:r>
            <a:r>
              <a:rPr sz="950" b="1">
                <a:solidFill>
                  <a:srgbClr val="B45309"/>
                </a:solidFill>
              </a:rPr>
              <a:t>   🎥 Demo Video: </a:t>
            </a:r>
            <a:r>
              <a:rPr sz="950" b="1" u="sng">
                <a:solidFill>
                  <a:srgbClr val="2563EB"/>
                </a:solidFill>
                <a:hlinkClick r:id="rId4"/>
              </a:rPr>
              <a:t>Watch 3-Min Walkthrough (Google Drive)
</a:t>
            </a:r>
            <a:r>
              <a:rPr sz="950" b="1">
                <a:solidFill>
                  <a:srgbClr val="0F766E"/>
                </a:solidFill>
              </a:rPr>
              <a:t>   📡 Backend API Docs: </a:t>
            </a:r>
            <a:r>
              <a:rPr sz="950" b="1" u="sng">
                <a:solidFill>
                  <a:srgbClr val="2563EB"/>
                </a:solidFill>
                <a:hlinkClick r:id="rId5"/>
              </a:rPr>
              <a:t>smart-india-hackathon-zkq9.onrender.com/docs
</a:t>
            </a:r>
            <a:r>
              <a:rPr sz="950" b="1">
                <a:solidFill>
                  <a:srgbClr val="334155"/>
                </a:solidFill>
              </a:rPr>
              <a:t>   📂 GitHub Repo: </a:t>
            </a:r>
            <a:r>
              <a:rPr sz="950" b="1" u="sng">
                <a:solidFill>
                  <a:srgbClr val="2563EB"/>
                </a:solidFill>
                <a:hlinkClick r:id="rId6"/>
              </a:rPr>
              <a:t>github.com/vard143/SMART_INDIA_HACKATHON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6292" y="1597866"/>
            <a:ext cx="336887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rPr sz="2000" dirty="0"/>
              <a:t>Academic &amp; Policy 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6080" y="1107440"/>
            <a:ext cx="6329680" cy="38404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COMPARISON WITH EXISTING EDTECH &amp; AI PLATFORMS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352FC1-5194-0745-7A13-BDE8C219949E}"/>
              </a:ext>
            </a:extLst>
          </p:cNvPr>
          <p:cNvSpPr/>
          <p:nvPr/>
        </p:nvSpPr>
        <p:spPr>
          <a:xfrm>
            <a:off x="320040" y="156705"/>
            <a:ext cx="1323717" cy="827428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1B426F"/>
                </a:solidFill>
                <a:latin typeface="Aptos"/>
              </a:rPr>
              <a:t>PROBLEM SOLVERS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A145C18-B2E1-0F20-9206-3088F5151EE1}"/>
              </a:ext>
            </a:extLst>
          </p:cNvPr>
          <p:cNvSpPr txBox="1">
            <a:spLocks/>
          </p:cNvSpPr>
          <p:nvPr/>
        </p:nvSpPr>
        <p:spPr>
          <a:xfrm>
            <a:off x="442452" y="194576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372620-43CA-EB8B-E50D-6330610AD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E9D46EA-51F4-0EA4-EC0D-C0C8ACD7D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9" name="Footer Placeholder 6">
            <a:extLst>
              <a:ext uri="{FF2B5EF4-FFF2-40B4-BE49-F238E27FC236}">
                <a16:creationId xmlns:a16="http://schemas.microsoft.com/office/drawing/2014/main" id="{0CA9949F-3289-41E2-DB2B-04D9936DD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7145A02-7151-0274-5D72-022D2871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D93AA1-B133-8227-EC0F-35BB19B1B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835959"/>
              </p:ext>
            </p:extLst>
          </p:nvPr>
        </p:nvGraphicFramePr>
        <p:xfrm>
          <a:off x="5466080" y="1584960"/>
          <a:ext cx="6349846" cy="465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387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SIH26042 Requirement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BhashaSetu Implemented Architecture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387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2744"/>
                          </a:solidFill>
                          <a:latin typeface="Arial"/>
                        </a:defRPr>
                      </a:pPr>
                      <a:r>
                        <a:t>Mother-tongue learning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Local language-resource layer &amp; realia grounding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✔ IMPLEMENTED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387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2744"/>
                          </a:solidFill>
                          <a:latin typeface="Arial"/>
                        </a:defRPr>
                      </a:pPr>
                      <a:r>
                        <a:t>Vernacular translation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Local NLP + phrase/lexicon hierarchical matching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✔ IMPLEMENTED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387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2744"/>
                          </a:solidFill>
                          <a:latin typeface="Arial"/>
                        </a:defRPr>
                      </a:pPr>
                      <a:r>
                        <a:t>Curriculum alignment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Official NCERT &amp; JCERT Class 1–3 textbook parsing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✔ IMPLEMENTED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387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2744"/>
                          </a:solidFill>
                          <a:latin typeface="Arial"/>
                        </a:defRPr>
                      </a:pPr>
                      <a:r>
                        <a:t>FLN learning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14-point structured bilingual lesson planning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✔ IMPLEMENTED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387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2744"/>
                          </a:solidFill>
                          <a:latin typeface="Arial"/>
                        </a:defRPr>
                      </a:pPr>
                      <a:r>
                        <a:t>Offline-first resilience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Embedded SQLite database in WAL mode &amp; caching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✔ IMPLEMENTED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387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2744"/>
                          </a:solidFill>
                          <a:latin typeface="Arial"/>
                        </a:defRPr>
                      </a:pPr>
                      <a:r>
                        <a:t>Voice interaction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Voice architecture + Web Speech API + audio playback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◐ PARTIAL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387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2744"/>
                          </a:solidFill>
                          <a:latin typeface="Arial"/>
                        </a:defRPr>
                      </a:pPr>
                      <a:r>
                        <a:t>Translation quality control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4-tier status gating (Native / Dict / Fallback)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59669"/>
                          </a:solidFill>
                          <a:latin typeface="Arial"/>
                        </a:defRPr>
                      </a:pPr>
                      <a:r>
                        <a:t>✔ IMPLEMENTED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7387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2744"/>
                          </a:solidFill>
                          <a:latin typeface="Arial"/>
                        </a:defRPr>
                      </a:pPr>
                      <a:r>
                        <a:rPr dirty="0"/>
                        <a:t>Low-resource tribal focus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rPr dirty="0"/>
                        <a:t>Modular language packs with community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2563EB"/>
                          </a:solidFill>
                          <a:latin typeface="Arial"/>
                        </a:defRPr>
                      </a:pPr>
                      <a:r>
                        <a:rPr dirty="0"/>
                        <a:t>◈ EXTENSIBLE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DF4"/>
        </a:solidFill>
        <a:ln w="25400">
          <a:solidFill>
            <a:srgbClr val="14532D"/>
          </a:solidFill>
        </a:ln>
      </a:spPr>
      <a:bodyPr wrap="square" tIns="128016" rtlCol="0" anchor="t"/>
      <a:lstStyle>
        <a:defPPr algn="ctr">
          <a:spcAft>
            <a:spcPts val="300"/>
          </a:spcAft>
          <a:defRPr sz="1300" b="1" dirty="0">
            <a:solidFill>
              <a:srgbClr val="14532D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7682</TotalTime>
  <Words>1331</Words>
  <Application>Microsoft Office PowerPoint</Application>
  <PresentationFormat>Widescreen</PresentationFormat>
  <Paragraphs>175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Black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AVULA GURUSAI</cp:lastModifiedBy>
  <cp:revision>161</cp:revision>
  <dcterms:created xsi:type="dcterms:W3CDTF">2013-12-12T18:46:50Z</dcterms:created>
  <dcterms:modified xsi:type="dcterms:W3CDTF">2026-09-29T19:44:09Z</dcterms:modified>
  <cp:category/>
</cp:coreProperties>
</file>